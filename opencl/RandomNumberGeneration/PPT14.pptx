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62" r:id="rId6"/>
    <p:sldId id="263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5DAE3-0CB0-44A8-8D99-DD91B335FB2A}" type="datetimeFigureOut">
              <a:t>2026. 03. 19.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A5DE6-0C04-43B3-8299-20A0F1B6DAFD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468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lineáris</a:t>
            </a:r>
            <a:r>
              <a:rPr lang="en-US" dirty="0"/>
              <a:t> </a:t>
            </a:r>
            <a:r>
              <a:rPr lang="en-US" dirty="0" err="1"/>
              <a:t>kongruens</a:t>
            </a:r>
            <a:r>
              <a:rPr lang="en-US" dirty="0"/>
              <a:t> </a:t>
            </a:r>
            <a:r>
              <a:rPr lang="en-US" dirty="0" err="1"/>
              <a:t>generátor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legegyszerűbb</a:t>
            </a:r>
            <a:r>
              <a:rPr lang="en-US" dirty="0"/>
              <a:t> </a:t>
            </a:r>
            <a:r>
              <a:rPr lang="en-US" dirty="0" err="1"/>
              <a:t>véletlenszám-generáló</a:t>
            </a:r>
            <a:r>
              <a:rPr lang="en-US" dirty="0"/>
              <a:t> </a:t>
            </a:r>
            <a:r>
              <a:rPr lang="en-US" dirty="0" err="1"/>
              <a:t>módszer</a:t>
            </a:r>
            <a:r>
              <a:rPr lang="en-US" dirty="0"/>
              <a:t>.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matematikai</a:t>
            </a:r>
            <a:r>
              <a:rPr lang="en-US" dirty="0"/>
              <a:t> </a:t>
            </a:r>
            <a:r>
              <a:rPr lang="en-US" dirty="0" err="1"/>
              <a:t>képleten</a:t>
            </a:r>
            <a:r>
              <a:rPr lang="en-US" dirty="0"/>
              <a:t> </a:t>
            </a:r>
            <a:r>
              <a:rPr lang="en-US" dirty="0" err="1"/>
              <a:t>alapul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előző</a:t>
            </a:r>
            <a:r>
              <a:rPr lang="en-US" dirty="0"/>
              <a:t> </a:t>
            </a:r>
            <a:r>
              <a:rPr lang="en-US" dirty="0" err="1"/>
              <a:t>szám</a:t>
            </a:r>
            <a:r>
              <a:rPr lang="en-US" dirty="0"/>
              <a:t> </a:t>
            </a:r>
            <a:r>
              <a:rPr lang="en-US" dirty="0" err="1"/>
              <a:t>alapján</a:t>
            </a:r>
            <a:r>
              <a:rPr lang="en-US" dirty="0"/>
              <a:t> </a:t>
            </a:r>
            <a:r>
              <a:rPr lang="en-US" dirty="0" err="1"/>
              <a:t>számolja</a:t>
            </a:r>
            <a:r>
              <a:rPr lang="en-US" dirty="0"/>
              <a:t> ki a </a:t>
            </a:r>
            <a:r>
              <a:rPr lang="en-US" dirty="0" err="1"/>
              <a:t>következőt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Előnye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gyors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könnyen</a:t>
            </a:r>
            <a:r>
              <a:rPr lang="en-US" dirty="0"/>
              <a:t> </a:t>
            </a:r>
            <a:r>
              <a:rPr lang="en-US" dirty="0" err="1"/>
              <a:t>megvalósítható</a:t>
            </a:r>
            <a:r>
              <a:rPr lang="en-US" dirty="0"/>
              <a:t>, </a:t>
            </a:r>
            <a:r>
              <a:rPr lang="en-US" dirty="0" err="1"/>
              <a:t>ezért</a:t>
            </a:r>
            <a:r>
              <a:rPr lang="en-US" dirty="0"/>
              <a:t> </a:t>
            </a:r>
            <a:r>
              <a:rPr lang="en-US" dirty="0" err="1"/>
              <a:t>régebben</a:t>
            </a:r>
            <a:r>
              <a:rPr lang="en-US" dirty="0"/>
              <a:t> </a:t>
            </a:r>
            <a:r>
              <a:rPr lang="en-US" dirty="0" err="1"/>
              <a:t>széles</a:t>
            </a:r>
            <a:r>
              <a:rPr lang="en-US" dirty="0"/>
              <a:t> </a:t>
            </a:r>
            <a:r>
              <a:rPr lang="en-US" dirty="0" err="1"/>
              <a:t>körben</a:t>
            </a:r>
            <a:r>
              <a:rPr lang="en-US" dirty="0"/>
              <a:t> </a:t>
            </a:r>
            <a:r>
              <a:rPr lang="en-US" dirty="0" err="1"/>
              <a:t>használták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Hátránya</a:t>
            </a:r>
            <a:r>
              <a:rPr lang="en-US" dirty="0"/>
              <a:t> </a:t>
            </a:r>
            <a:r>
              <a:rPr lang="en-US" dirty="0" err="1"/>
              <a:t>viszont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generált</a:t>
            </a:r>
            <a:r>
              <a:rPr lang="en-US" dirty="0"/>
              <a:t> </a:t>
            </a:r>
            <a:r>
              <a:rPr lang="en-US" dirty="0" err="1"/>
              <a:t>számok</a:t>
            </a:r>
            <a:r>
              <a:rPr lang="en-US" dirty="0"/>
              <a:t> </a:t>
            </a:r>
            <a:r>
              <a:rPr lang="en-US" dirty="0" err="1"/>
              <a:t>mintázatot</a:t>
            </a:r>
            <a:r>
              <a:rPr lang="en-US" dirty="0"/>
              <a:t> </a:t>
            </a:r>
            <a:r>
              <a:rPr lang="en-US" dirty="0" err="1"/>
              <a:t>mutathatnak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igazán</a:t>
            </a:r>
            <a:r>
              <a:rPr lang="en-US" dirty="0"/>
              <a:t> </a:t>
            </a:r>
            <a:r>
              <a:rPr lang="en-US" dirty="0" err="1"/>
              <a:t>alkalmas</a:t>
            </a:r>
            <a:r>
              <a:rPr lang="en-US" dirty="0"/>
              <a:t> </a:t>
            </a:r>
            <a:r>
              <a:rPr lang="en-US" dirty="0" err="1"/>
              <a:t>komolyabb</a:t>
            </a:r>
            <a:r>
              <a:rPr lang="en-US" dirty="0"/>
              <a:t> </a:t>
            </a:r>
            <a:r>
              <a:rPr lang="en-US" dirty="0" err="1"/>
              <a:t>szimulációkhoz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kriptográfiához</a:t>
            </a:r>
            <a:r>
              <a:rPr lang="en-US" dirty="0"/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A5DE6-0C04-43B3-8299-20A0F1B6DAFD}" type="slidenum"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4958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Xorshift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modernebb</a:t>
            </a:r>
            <a:r>
              <a:rPr lang="en-US" dirty="0"/>
              <a:t>, </a:t>
            </a:r>
            <a:r>
              <a:rPr lang="en-US" dirty="0" err="1"/>
              <a:t>bitműveleteken</a:t>
            </a:r>
            <a:r>
              <a:rPr lang="en-US" dirty="0"/>
              <a:t> </a:t>
            </a:r>
            <a:r>
              <a:rPr lang="en-US" dirty="0" err="1"/>
              <a:t>alapuló</a:t>
            </a:r>
            <a:r>
              <a:rPr lang="en-US" dirty="0"/>
              <a:t> </a:t>
            </a:r>
            <a:r>
              <a:rPr lang="en-US" dirty="0" err="1"/>
              <a:t>véletlenszám-generátor</a:t>
            </a:r>
            <a:r>
              <a:rPr lang="en-US" dirty="0"/>
              <a:t>. XOR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biteltolás</a:t>
            </a:r>
            <a:r>
              <a:rPr lang="en-US" dirty="0"/>
              <a:t> </a:t>
            </a:r>
            <a:r>
              <a:rPr lang="en-US" dirty="0" err="1"/>
              <a:t>műveleteket</a:t>
            </a:r>
            <a:r>
              <a:rPr lang="en-US" dirty="0"/>
              <a:t> </a:t>
            </a:r>
            <a:r>
              <a:rPr lang="en-US" dirty="0" err="1"/>
              <a:t>használ</a:t>
            </a:r>
            <a:r>
              <a:rPr lang="en-US" dirty="0"/>
              <a:t>, </a:t>
            </a:r>
            <a:r>
              <a:rPr lang="en-US" dirty="0" err="1"/>
              <a:t>innen</a:t>
            </a:r>
            <a:r>
              <a:rPr lang="en-US" dirty="0"/>
              <a:t> </a:t>
            </a:r>
            <a:r>
              <a:rPr lang="en-US" dirty="0" err="1"/>
              <a:t>kapta</a:t>
            </a:r>
            <a:r>
              <a:rPr lang="en-US" dirty="0"/>
              <a:t> a </a:t>
            </a:r>
            <a:r>
              <a:rPr lang="en-US" dirty="0" err="1"/>
              <a:t>nevét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gyors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kevés</a:t>
            </a:r>
            <a:r>
              <a:rPr lang="en-US" dirty="0"/>
              <a:t> </a:t>
            </a:r>
            <a:r>
              <a:rPr lang="en-US" dirty="0" err="1"/>
              <a:t>erőforrást</a:t>
            </a:r>
            <a:r>
              <a:rPr lang="en-US" dirty="0"/>
              <a:t> </a:t>
            </a:r>
            <a:r>
              <a:rPr lang="en-US" dirty="0" err="1"/>
              <a:t>igényel</a:t>
            </a:r>
            <a:r>
              <a:rPr lang="en-US" dirty="0"/>
              <a:t>, </a:t>
            </a:r>
            <a:r>
              <a:rPr lang="en-US" dirty="0" err="1"/>
              <a:t>ezért</a:t>
            </a:r>
            <a:r>
              <a:rPr lang="en-US" dirty="0"/>
              <a:t> </a:t>
            </a:r>
            <a:r>
              <a:rPr lang="en-US" dirty="0" err="1"/>
              <a:t>gyakran</a:t>
            </a:r>
            <a:r>
              <a:rPr lang="en-US" dirty="0"/>
              <a:t> </a:t>
            </a:r>
            <a:r>
              <a:rPr lang="en-US" dirty="0" err="1"/>
              <a:t>használják</a:t>
            </a:r>
            <a:r>
              <a:rPr lang="en-US" dirty="0"/>
              <a:t> </a:t>
            </a:r>
            <a:r>
              <a:rPr lang="en-US" dirty="0" err="1"/>
              <a:t>programozásban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játékfejlesztésben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Ugyanakkor</a:t>
            </a:r>
            <a:r>
              <a:rPr lang="en-US" dirty="0"/>
              <a:t> </a:t>
            </a:r>
            <a:r>
              <a:rPr lang="en-US" dirty="0" err="1"/>
              <a:t>bizonyos</a:t>
            </a:r>
            <a:r>
              <a:rPr lang="en-US" dirty="0"/>
              <a:t> </a:t>
            </a:r>
            <a:r>
              <a:rPr lang="en-US" dirty="0" err="1"/>
              <a:t>statisztikai</a:t>
            </a:r>
            <a:r>
              <a:rPr lang="en-US" dirty="0"/>
              <a:t> </a:t>
            </a:r>
            <a:r>
              <a:rPr lang="en-US" dirty="0" err="1"/>
              <a:t>teszteken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teljesít</a:t>
            </a:r>
            <a:r>
              <a:rPr lang="en-US" dirty="0"/>
              <a:t> </a:t>
            </a:r>
            <a:r>
              <a:rPr lang="en-US" dirty="0" err="1"/>
              <a:t>tökéletesen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kritikus</a:t>
            </a:r>
            <a:r>
              <a:rPr lang="en-US" dirty="0"/>
              <a:t> </a:t>
            </a:r>
            <a:r>
              <a:rPr lang="en-US" dirty="0" err="1"/>
              <a:t>alkalmazásokhoz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ideális</a:t>
            </a:r>
            <a:r>
              <a:rPr lang="en-US" dirty="0"/>
              <a:t>.</a:t>
            </a:r>
            <a:endParaRPr lang="hu-HU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A5DE6-0C04-43B3-8299-20A0F1B6DAFD}" type="slidenum"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6559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Mersenne Twister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legismertebb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leggyakrabban</a:t>
            </a:r>
            <a:r>
              <a:rPr lang="en-US" dirty="0"/>
              <a:t> </a:t>
            </a:r>
            <a:r>
              <a:rPr lang="en-US" dirty="0" err="1"/>
              <a:t>használt</a:t>
            </a:r>
            <a:r>
              <a:rPr lang="en-US" dirty="0"/>
              <a:t> </a:t>
            </a:r>
            <a:r>
              <a:rPr lang="en-US" dirty="0" err="1"/>
              <a:t>véletlenszám-generátor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hosszú</a:t>
            </a:r>
            <a:r>
              <a:rPr lang="en-US" dirty="0"/>
              <a:t> </a:t>
            </a:r>
            <a:r>
              <a:rPr lang="en-US" dirty="0" err="1"/>
              <a:t>periódussal</a:t>
            </a:r>
            <a:r>
              <a:rPr lang="en-US" dirty="0"/>
              <a:t> </a:t>
            </a:r>
            <a:r>
              <a:rPr lang="en-US" dirty="0" err="1"/>
              <a:t>rendelkezik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rendkívül</a:t>
            </a:r>
            <a:r>
              <a:rPr lang="en-US" dirty="0"/>
              <a:t>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számot</a:t>
            </a:r>
            <a:r>
              <a:rPr lang="en-US" dirty="0"/>
              <a:t> </a:t>
            </a:r>
            <a:r>
              <a:rPr lang="en-US" dirty="0" err="1"/>
              <a:t>képes</a:t>
            </a:r>
            <a:r>
              <a:rPr lang="en-US" dirty="0"/>
              <a:t> </a:t>
            </a:r>
            <a:r>
              <a:rPr lang="en-US" dirty="0" err="1"/>
              <a:t>generálni</a:t>
            </a:r>
            <a:r>
              <a:rPr lang="en-US" dirty="0"/>
              <a:t> </a:t>
            </a:r>
            <a:r>
              <a:rPr lang="en-US" dirty="0" err="1"/>
              <a:t>ismétlődés</a:t>
            </a:r>
            <a:r>
              <a:rPr lang="en-US" dirty="0"/>
              <a:t> </a:t>
            </a:r>
            <a:r>
              <a:rPr lang="en-US" dirty="0" err="1"/>
              <a:t>nélkül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Jó</a:t>
            </a:r>
            <a:r>
              <a:rPr lang="en-US" dirty="0"/>
              <a:t> </a:t>
            </a:r>
            <a:r>
              <a:rPr lang="en-US" dirty="0" err="1"/>
              <a:t>statisztikai</a:t>
            </a:r>
            <a:r>
              <a:rPr lang="en-US" dirty="0"/>
              <a:t> </a:t>
            </a:r>
            <a:r>
              <a:rPr lang="en-US" dirty="0" err="1"/>
              <a:t>tulajdonságai</a:t>
            </a:r>
            <a:r>
              <a:rPr lang="en-US" dirty="0"/>
              <a:t> </a:t>
            </a:r>
            <a:r>
              <a:rPr lang="en-US" dirty="0" err="1"/>
              <a:t>miatt</a:t>
            </a:r>
            <a:r>
              <a:rPr lang="en-US" dirty="0"/>
              <a:t> </a:t>
            </a:r>
            <a:r>
              <a:rPr lang="en-US" dirty="0" err="1"/>
              <a:t>gyakran</a:t>
            </a:r>
            <a:r>
              <a:rPr lang="en-US" dirty="0"/>
              <a:t> </a:t>
            </a:r>
            <a:r>
              <a:rPr lang="en-US" dirty="0" err="1"/>
              <a:t>használják</a:t>
            </a:r>
            <a:r>
              <a:rPr lang="en-US" dirty="0"/>
              <a:t> </a:t>
            </a:r>
            <a:r>
              <a:rPr lang="en-US" dirty="0" err="1"/>
              <a:t>szimulációkban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tudományos</a:t>
            </a:r>
            <a:r>
              <a:rPr lang="en-US" dirty="0"/>
              <a:t> </a:t>
            </a:r>
            <a:r>
              <a:rPr lang="en-US" dirty="0" err="1"/>
              <a:t>számításokban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Viszont</a:t>
            </a:r>
            <a:r>
              <a:rPr lang="en-US" dirty="0"/>
              <a:t> </a:t>
            </a:r>
            <a:r>
              <a:rPr lang="en-US" dirty="0" err="1"/>
              <a:t>kriptográfiai</a:t>
            </a:r>
            <a:r>
              <a:rPr lang="en-US" dirty="0"/>
              <a:t> </a:t>
            </a:r>
            <a:r>
              <a:rPr lang="en-US" dirty="0" err="1"/>
              <a:t>célokra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biztonságos</a:t>
            </a:r>
            <a:r>
              <a:rPr lang="en-US" dirty="0"/>
              <a:t>.</a:t>
            </a:r>
            <a:endParaRPr lang="hu-HU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A5DE6-0C04-43B3-8299-20A0F1B6DAFD}" type="slidenum"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5860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khi-négyzet próba egy statisztikai teszt, amellyel azt vizsgáljuk, hogy egy adathalmaz mennyire követ egy adott eloszlást.</a:t>
            </a:r>
            <a:br>
              <a:rPr lang="en-US" dirty="0"/>
            </a:br>
            <a:r>
              <a:rPr lang="en-US"/>
              <a:t> Véletlenszám-generátorok esetén azt ellenőrizzük, hogy a számok egyenletesen oszlanak-e el.</a:t>
            </a:r>
            <a:br>
              <a:rPr lang="en-US" dirty="0"/>
            </a:br>
            <a:r>
              <a:rPr lang="en-US"/>
              <a:t> Ha az eltérés túl nagy a várt értékektől, akkor a generátor nem tekinthető megfelelően véletlennek.</a:t>
            </a:r>
            <a:br>
              <a:rPr lang="en-US" dirty="0"/>
            </a:br>
            <a:r>
              <a:rPr lang="en-US"/>
              <a:t> Ez egy fontos eszköz a generátorok minőségének ellenőrzésére.</a:t>
            </a: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A5DE6-0C04-43B3-8299-20A0F1B6DAFD}" type="slidenum"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4172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Monte Carlo </a:t>
            </a:r>
            <a:r>
              <a:rPr lang="en-US" dirty="0" err="1"/>
              <a:t>szimuláció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módszer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véletlenszámok</a:t>
            </a:r>
            <a:r>
              <a:rPr lang="en-US" dirty="0"/>
              <a:t> </a:t>
            </a:r>
            <a:r>
              <a:rPr lang="en-US" dirty="0" err="1"/>
              <a:t>segítségével</a:t>
            </a:r>
            <a:r>
              <a:rPr lang="en-US" dirty="0"/>
              <a:t> </a:t>
            </a:r>
            <a:r>
              <a:rPr lang="en-US" dirty="0" err="1"/>
              <a:t>modellez</a:t>
            </a:r>
            <a:r>
              <a:rPr lang="en-US" dirty="0"/>
              <a:t> </a:t>
            </a:r>
            <a:r>
              <a:rPr lang="en-US" dirty="0" err="1"/>
              <a:t>bonyolult</a:t>
            </a:r>
            <a:r>
              <a:rPr lang="en-US" dirty="0"/>
              <a:t> </a:t>
            </a:r>
            <a:r>
              <a:rPr lang="en-US" dirty="0" err="1"/>
              <a:t>rendszereket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Gyakran</a:t>
            </a:r>
            <a:r>
              <a:rPr lang="en-US" dirty="0"/>
              <a:t> </a:t>
            </a:r>
            <a:r>
              <a:rPr lang="en-US" dirty="0" err="1"/>
              <a:t>használják</a:t>
            </a:r>
            <a:r>
              <a:rPr lang="en-US" dirty="0"/>
              <a:t> </a:t>
            </a:r>
            <a:r>
              <a:rPr lang="en-US" dirty="0" err="1"/>
              <a:t>például</a:t>
            </a:r>
            <a:r>
              <a:rPr lang="en-US" dirty="0"/>
              <a:t> </a:t>
            </a:r>
            <a:r>
              <a:rPr lang="en-US" dirty="0" err="1"/>
              <a:t>pénzügyben</a:t>
            </a:r>
            <a:r>
              <a:rPr lang="en-US" dirty="0"/>
              <a:t>, </a:t>
            </a:r>
            <a:r>
              <a:rPr lang="en-US" dirty="0" err="1"/>
              <a:t>fizikában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mérnöki</a:t>
            </a:r>
            <a:r>
              <a:rPr lang="en-US" dirty="0"/>
              <a:t> </a:t>
            </a:r>
            <a:r>
              <a:rPr lang="en-US" dirty="0" err="1"/>
              <a:t>problémák</a:t>
            </a:r>
            <a:r>
              <a:rPr lang="en-US" dirty="0"/>
              <a:t> </a:t>
            </a:r>
            <a:r>
              <a:rPr lang="en-US" dirty="0" err="1"/>
              <a:t>megoldásában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Az </a:t>
            </a:r>
            <a:r>
              <a:rPr lang="en-US" dirty="0" err="1"/>
              <a:t>alapötlet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véletlen</a:t>
            </a:r>
            <a:r>
              <a:rPr lang="en-US" dirty="0"/>
              <a:t> </a:t>
            </a:r>
            <a:r>
              <a:rPr lang="en-US" dirty="0" err="1"/>
              <a:t>kísérletet</a:t>
            </a:r>
            <a:r>
              <a:rPr lang="en-US" dirty="0"/>
              <a:t> </a:t>
            </a:r>
            <a:r>
              <a:rPr lang="en-US" dirty="0" err="1"/>
              <a:t>végzünk</a:t>
            </a:r>
            <a:r>
              <a:rPr lang="en-US" dirty="0"/>
              <a:t>, </a:t>
            </a:r>
            <a:r>
              <a:rPr lang="en-US" dirty="0" err="1"/>
              <a:t>majd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eredmények</a:t>
            </a:r>
            <a:r>
              <a:rPr lang="en-US" dirty="0"/>
              <a:t> </a:t>
            </a:r>
            <a:r>
              <a:rPr lang="en-US" dirty="0" err="1"/>
              <a:t>átlagából</a:t>
            </a:r>
            <a:r>
              <a:rPr lang="en-US" dirty="0"/>
              <a:t> </a:t>
            </a:r>
            <a:r>
              <a:rPr lang="en-US" dirty="0" err="1"/>
              <a:t>következtetünk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Minél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szimulációt</a:t>
            </a:r>
            <a:r>
              <a:rPr lang="en-US" dirty="0"/>
              <a:t> </a:t>
            </a:r>
            <a:r>
              <a:rPr lang="en-US" dirty="0" err="1"/>
              <a:t>futtatunk</a:t>
            </a:r>
            <a:r>
              <a:rPr lang="en-US" dirty="0"/>
              <a:t>, </a:t>
            </a:r>
            <a:r>
              <a:rPr lang="en-US" dirty="0" err="1"/>
              <a:t>annál</a:t>
            </a:r>
            <a:r>
              <a:rPr lang="en-US" dirty="0"/>
              <a:t> </a:t>
            </a:r>
            <a:r>
              <a:rPr lang="en-US" dirty="0" err="1"/>
              <a:t>pontosabb</a:t>
            </a:r>
            <a:r>
              <a:rPr lang="en-US" dirty="0"/>
              <a:t> </a:t>
            </a:r>
            <a:r>
              <a:rPr lang="en-US" dirty="0" err="1"/>
              <a:t>eredményt</a:t>
            </a:r>
            <a:r>
              <a:rPr lang="en-US" dirty="0"/>
              <a:t> </a:t>
            </a:r>
            <a:r>
              <a:rPr lang="en-US" dirty="0" err="1"/>
              <a:t>kapunk</a:t>
            </a:r>
            <a:r>
              <a:rPr lang="en-US" dirty="0"/>
              <a:t>.</a:t>
            </a:r>
            <a:endParaRPr lang="hu-HU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A5DE6-0C04-43B3-8299-20A0F1B6DAFD}" type="slidenum"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149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385364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7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83927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4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43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5822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4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2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1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330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BCC0EC-6B5D-2931-C6B4-E347B7C25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pPr algn="l"/>
            <a:r>
              <a:rPr lang="hu-HU" sz="6000" dirty="0"/>
              <a:t>Design </a:t>
            </a:r>
            <a:r>
              <a:rPr lang="hu-HU" sz="6000" dirty="0" err="1"/>
              <a:t>Plans</a:t>
            </a:r>
            <a:r>
              <a:rPr lang="hu-HU" sz="6000" dirty="0"/>
              <a:t> </a:t>
            </a:r>
            <a:r>
              <a:rPr lang="hu-HU" sz="6000" dirty="0" err="1"/>
              <a:t>for</a:t>
            </a:r>
            <a:r>
              <a:rPr lang="hu-HU" sz="6000" dirty="0"/>
              <a:t> </a:t>
            </a:r>
            <a:r>
              <a:rPr lang="hu-HU" sz="6000" dirty="0" err="1"/>
              <a:t>Assignment</a:t>
            </a:r>
            <a:r>
              <a:rPr lang="hu-HU" sz="6000" dirty="0"/>
              <a:t> 14</a:t>
            </a:r>
            <a:endParaRPr lang="en-US" sz="60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F40A604-BF02-EFE0-4E80-9D2198015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pPr algn="l"/>
            <a:r>
              <a:rPr lang="hu-HU" dirty="0" err="1">
                <a:solidFill>
                  <a:schemeClr val="tx1"/>
                </a:solidFill>
              </a:rPr>
              <a:t>Leszkovszky</a:t>
            </a:r>
            <a:r>
              <a:rPr lang="hu-HU" dirty="0">
                <a:solidFill>
                  <a:schemeClr val="tx1"/>
                </a:solidFill>
              </a:rPr>
              <a:t> Alexandra, </a:t>
            </a:r>
            <a:r>
              <a:rPr lang="hu-HU" dirty="0" err="1">
                <a:solidFill>
                  <a:schemeClr val="tx1"/>
                </a:solidFill>
              </a:rPr>
              <a:t>Kaselyák</a:t>
            </a:r>
            <a:r>
              <a:rPr lang="hu-HU" dirty="0">
                <a:solidFill>
                  <a:schemeClr val="tx1"/>
                </a:solidFill>
              </a:rPr>
              <a:t> Péter, Márton Gergő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93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</a:t>
            </a:r>
            <a:r>
              <a:rPr lang="hu-HU" dirty="0" err="1"/>
              <a:t>Linear</a:t>
            </a:r>
            <a:r>
              <a:rPr lang="hu-HU" dirty="0"/>
              <a:t> </a:t>
            </a:r>
            <a:r>
              <a:rPr lang="hu-HU" dirty="0" err="1"/>
              <a:t>Congruential</a:t>
            </a:r>
            <a:r>
              <a:rPr lang="hu-HU" dirty="0"/>
              <a:t> </a:t>
            </a:r>
            <a:r>
              <a:rPr lang="hu-HU" dirty="0" err="1"/>
              <a:t>Generator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hu-HU" sz="2400" dirty="0" err="1"/>
                  <a:t>Calculation</a:t>
                </a:r>
                <a:r>
                  <a:rPr lang="hu-HU" sz="2400" dirty="0"/>
                  <a:t> formula: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u-H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sSub>
                            <m:sSubPr>
                              <m:ctrlPr>
                                <a:rPr lang="hu-H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u-H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hu-HU" sz="2400" dirty="0"/>
              </a:p>
              <a:p>
                <a:pPr>
                  <a:lnSpc>
                    <a:spcPct val="110000"/>
                  </a:lnSpc>
                </a:pPr>
                <a:r>
                  <a:rPr lang="hu-HU" sz="2400" dirty="0" err="1"/>
                  <a:t>Where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the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symbols</a:t>
                </a:r>
                <a:r>
                  <a:rPr lang="hu-HU" sz="2400" dirty="0"/>
                  <a:t> </a:t>
                </a:r>
                <a:r>
                  <a:rPr lang="hu-HU" sz="2400" dirty="0" err="1"/>
                  <a:t>are</a:t>
                </a:r>
                <a:r>
                  <a:rPr lang="hu-HU" sz="2400" dirty="0"/>
                  <a:t>: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hu-HU" sz="2000" dirty="0"/>
                  <a:t>a: </a:t>
                </a:r>
                <a:r>
                  <a:rPr lang="hu-HU" sz="2000" dirty="0" err="1"/>
                  <a:t>mutliplier</a:t>
                </a:r>
                <a:endParaRPr lang="hu-HU" sz="2000" dirty="0"/>
              </a:p>
              <a:p>
                <a:pPr lvl="1">
                  <a:lnSpc>
                    <a:spcPct val="110000"/>
                  </a:lnSpc>
                </a:pPr>
                <a:r>
                  <a:rPr lang="hu-HU" sz="2000" dirty="0"/>
                  <a:t>c: </a:t>
                </a:r>
                <a:r>
                  <a:rPr lang="hu-HU" sz="2000" dirty="0" err="1"/>
                  <a:t>increment</a:t>
                </a:r>
                <a:endParaRPr lang="hu-HU" sz="2000" dirty="0"/>
              </a:p>
              <a:p>
                <a:pPr lvl="1">
                  <a:lnSpc>
                    <a:spcPct val="110000"/>
                  </a:lnSpc>
                </a:pPr>
                <a:r>
                  <a:rPr lang="hu-HU" sz="2000" dirty="0"/>
                  <a:t>m: </a:t>
                </a:r>
                <a:r>
                  <a:rPr lang="hu-HU" sz="2000" dirty="0" err="1"/>
                  <a:t>modulo</a:t>
                </a:r>
                <a:r>
                  <a:rPr lang="hu-HU" sz="2000" dirty="0"/>
                  <a:t>, </a:t>
                </a:r>
                <a:r>
                  <a:rPr lang="hu-HU" sz="2000" dirty="0" err="1"/>
                  <a:t>usually</a:t>
                </a:r>
                <a:r>
                  <a:rPr lang="hu-HU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hu-HU" sz="2000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endParaRPr lang="hu-HU" sz="200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u-HU" sz="2000" dirty="0"/>
                  <a:t>: </a:t>
                </a:r>
                <a:r>
                  <a:rPr lang="hu-HU" sz="2000" dirty="0" err="1"/>
                  <a:t>current</a:t>
                </a:r>
                <a:r>
                  <a:rPr lang="hu-HU" sz="2000" dirty="0"/>
                  <a:t> random </a:t>
                </a:r>
                <a:r>
                  <a:rPr lang="hu-HU" sz="2000" dirty="0" err="1"/>
                  <a:t>number</a:t>
                </a:r>
                <a:endParaRPr lang="hu-HU" sz="200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hu-HU" sz="2000" dirty="0"/>
                  <a:t>: </a:t>
                </a:r>
                <a:r>
                  <a:rPr lang="hu-HU" sz="2000" dirty="0" err="1"/>
                  <a:t>next</a:t>
                </a:r>
                <a:r>
                  <a:rPr lang="hu-HU" sz="2000" dirty="0"/>
                  <a:t> random </a:t>
                </a:r>
                <a:r>
                  <a:rPr lang="hu-HU" sz="2000" dirty="0" err="1"/>
                  <a:t>number</a:t>
                </a:r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9" t="-850" b="-2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609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</a:t>
            </a:r>
            <a:r>
              <a:rPr lang="hu-HU" dirty="0" err="1"/>
              <a:t>XORshift</a:t>
            </a:r>
            <a:r>
              <a:rPr lang="hu-HU" dirty="0"/>
              <a:t> </a:t>
            </a:r>
            <a:r>
              <a:rPr lang="hu-HU" dirty="0" err="1"/>
              <a:t>Generator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F7EB23-E71A-5CDA-584F-D1DAA6C27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 err="1"/>
              <a:t>Applies</a:t>
            </a:r>
            <a:r>
              <a:rPr lang="hu-HU" sz="2400" dirty="0"/>
              <a:t> XOR and shift </a:t>
            </a:r>
            <a:r>
              <a:rPr lang="hu-HU" sz="2400" dirty="0" err="1"/>
              <a:t>operations</a:t>
            </a:r>
            <a:r>
              <a:rPr lang="hu-HU" sz="2400" dirty="0"/>
              <a:t> </a:t>
            </a:r>
            <a:r>
              <a:rPr lang="hu-HU" sz="2400" dirty="0" err="1"/>
              <a:t>at</a:t>
            </a:r>
            <a:r>
              <a:rPr lang="hu-HU" sz="2400" dirty="0"/>
              <a:t> </a:t>
            </a:r>
            <a:r>
              <a:rPr lang="hu-HU" sz="2400" dirty="0" err="1"/>
              <a:t>the</a:t>
            </a:r>
            <a:r>
              <a:rPr lang="hu-HU" sz="2400" dirty="0"/>
              <a:t> bit </a:t>
            </a:r>
            <a:r>
              <a:rPr lang="hu-HU" sz="2400" dirty="0" err="1"/>
              <a:t>level</a:t>
            </a:r>
            <a:r>
              <a:rPr lang="hu-HU" sz="2400" dirty="0"/>
              <a:t> </a:t>
            </a:r>
            <a:r>
              <a:rPr lang="hu-HU" sz="2400" dirty="0" err="1"/>
              <a:t>to</a:t>
            </a:r>
            <a:r>
              <a:rPr lang="hu-HU" sz="2400" dirty="0"/>
              <a:t> </a:t>
            </a:r>
            <a:r>
              <a:rPr lang="hu-HU" sz="2400" dirty="0" err="1"/>
              <a:t>generate</a:t>
            </a:r>
            <a:r>
              <a:rPr lang="hu-HU" sz="2400" dirty="0"/>
              <a:t> random </a:t>
            </a:r>
            <a:r>
              <a:rPr lang="hu-HU" sz="2400" dirty="0" err="1"/>
              <a:t>numbers</a:t>
            </a:r>
            <a:endParaRPr lang="hu-HU" sz="2400" dirty="0"/>
          </a:p>
          <a:p>
            <a:r>
              <a:rPr lang="hu-HU" sz="2400" dirty="0" err="1"/>
              <a:t>Example</a:t>
            </a:r>
            <a:r>
              <a:rPr lang="hu-HU" sz="2400" dirty="0"/>
              <a:t> program (32 bites):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3668283-8433-0EB9-6607-82D29F151EDF}"/>
              </a:ext>
            </a:extLst>
          </p:cNvPr>
          <p:cNvSpPr txBox="1"/>
          <p:nvPr/>
        </p:nvSpPr>
        <p:spPr>
          <a:xfrm>
            <a:off x="3891352" y="3673376"/>
            <a:ext cx="6929048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dirty="0"/>
              <a:t>uint32_t xorshift32(uint32_t *state) {</a:t>
            </a:r>
          </a:p>
          <a:p>
            <a:pPr marL="0" indent="0">
              <a:buNone/>
            </a:pPr>
            <a:r>
              <a:rPr lang="en-US" sz="1800" dirty="0"/>
              <a:t>    uint32_t x = *state;</a:t>
            </a:r>
          </a:p>
          <a:p>
            <a:pPr marL="0" indent="0">
              <a:buNone/>
            </a:pPr>
            <a:r>
              <a:rPr lang="en-US" sz="1800" dirty="0"/>
              <a:t>    x ^= x &lt;&lt; 13;</a:t>
            </a:r>
          </a:p>
          <a:p>
            <a:pPr marL="0" indent="0">
              <a:buNone/>
            </a:pPr>
            <a:r>
              <a:rPr lang="en-US" sz="1800" dirty="0"/>
              <a:t>    x ^= x &gt;&gt; 17;</a:t>
            </a:r>
          </a:p>
          <a:p>
            <a:pPr marL="0" indent="0">
              <a:buNone/>
            </a:pPr>
            <a:r>
              <a:rPr lang="en-US" sz="1800" dirty="0"/>
              <a:t>    x ^= x &lt;&lt; 5;</a:t>
            </a:r>
          </a:p>
          <a:p>
            <a:pPr marL="0" indent="0">
              <a:buNone/>
            </a:pPr>
            <a:r>
              <a:rPr lang="en-US" sz="1800" dirty="0"/>
              <a:t>    *state = x;</a:t>
            </a:r>
          </a:p>
          <a:p>
            <a:pPr marL="0" indent="0">
              <a:buNone/>
            </a:pPr>
            <a:r>
              <a:rPr lang="en-US" sz="1800" dirty="0"/>
              <a:t>    return x;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736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</a:t>
            </a:r>
            <a:r>
              <a:rPr lang="hu-HU" dirty="0" err="1"/>
              <a:t>Mersenne</a:t>
            </a:r>
            <a:r>
              <a:rPr lang="hu-HU" dirty="0"/>
              <a:t> </a:t>
            </a:r>
            <a:r>
              <a:rPr lang="hu-HU" dirty="0" err="1"/>
              <a:t>Twister</a:t>
            </a:r>
            <a:r>
              <a:rPr lang="hu-HU" dirty="0"/>
              <a:t> (</a:t>
            </a:r>
            <a:r>
              <a:rPr lang="hu-HU" i="1" dirty="0" err="1"/>
              <a:t>opc</a:t>
            </a:r>
            <a:r>
              <a:rPr lang="hu-H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/>
              </a:bodyPr>
              <a:lstStyle/>
              <a:p>
                <a:r>
                  <a:rPr lang="hu-HU" sz="2400" dirty="0" err="1"/>
                  <a:t>Generates</a:t>
                </a:r>
                <a:r>
                  <a:rPr lang="hu-HU" sz="2400" dirty="0"/>
                  <a:t> </a:t>
                </a:r>
                <a:r>
                  <a:rPr lang="hu-HU" sz="2400" dirty="0" err="1"/>
                  <a:t>numbers</a:t>
                </a:r>
                <a:r>
                  <a:rPr lang="hu-HU" sz="2400" dirty="0"/>
                  <a:t> in </a:t>
                </a:r>
                <a:r>
                  <a:rPr lang="hu-HU" sz="2400" dirty="0" err="1"/>
                  <a:t>two</a:t>
                </a:r>
                <a:r>
                  <a:rPr lang="hu-HU" sz="2400" dirty="0"/>
                  <a:t> </a:t>
                </a:r>
                <a:r>
                  <a:rPr lang="hu-HU" sz="2400" dirty="0" err="1"/>
                  <a:t>steps</a:t>
                </a:r>
                <a:r>
                  <a:rPr lang="hu-HU" sz="2400" dirty="0"/>
                  <a:t>:</a:t>
                </a:r>
              </a:p>
              <a:p>
                <a:pPr lvl="1"/>
                <a:r>
                  <a:rPr lang="hu-HU" sz="2000" dirty="0" err="1"/>
                  <a:t>Generates</a:t>
                </a:r>
                <a:r>
                  <a:rPr lang="hu-HU" sz="2000" dirty="0"/>
                  <a:t> a </a:t>
                </a:r>
                <a:r>
                  <a:rPr lang="hu-HU" sz="2000" dirty="0" err="1"/>
                  <a:t>large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array</a:t>
                </a:r>
                <a:r>
                  <a:rPr lang="hu-HU" sz="2000" dirty="0"/>
                  <a:t> of </a:t>
                </a:r>
                <a:r>
                  <a:rPr lang="hu-HU" sz="2000" dirty="0" err="1"/>
                  <a:t>state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values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using</a:t>
                </a:r>
                <a:r>
                  <a:rPr lang="hu-HU" sz="2000" dirty="0"/>
                  <a:t> a </a:t>
                </a:r>
                <a:r>
                  <a:rPr lang="hu-HU" sz="2000" dirty="0" err="1"/>
                  <a:t>recurrence</a:t>
                </a:r>
                <a:endParaRPr lang="hu-HU" sz="2000" dirty="0"/>
              </a:p>
              <a:p>
                <a:pPr lvl="1"/>
                <a:r>
                  <a:rPr lang="hu-HU" sz="2000" dirty="0" err="1"/>
                  <a:t>Tempers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values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to</a:t>
                </a:r>
                <a:r>
                  <a:rPr lang="hu-HU" sz="2000" dirty="0"/>
                  <a:t> </a:t>
                </a:r>
                <a:r>
                  <a:rPr lang="hu-HU" sz="2000" dirty="0" err="1"/>
                  <a:t>improve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randomness</a:t>
                </a:r>
                <a:endParaRPr lang="hu-HU" sz="2000" dirty="0"/>
              </a:p>
              <a:p>
                <a:pPr marL="457200" lvl="1" indent="0">
                  <a:buNone/>
                </a:pPr>
                <a:endParaRPr lang="hu-HU" sz="2000" dirty="0"/>
              </a:p>
              <a:p>
                <a:r>
                  <a:rPr lang="hu-HU" sz="2400" dirty="0" err="1"/>
                  <a:t>It</a:t>
                </a:r>
                <a:r>
                  <a:rPr lang="hu-HU" sz="2400" dirty="0"/>
                  <a:t> has a </a:t>
                </a:r>
                <a:r>
                  <a:rPr lang="hu-HU" sz="2400" dirty="0" err="1"/>
                  <a:t>long</a:t>
                </a:r>
                <a:r>
                  <a:rPr lang="hu-HU" sz="2400" dirty="0"/>
                  <a:t> </a:t>
                </a:r>
                <a:r>
                  <a:rPr lang="hu-HU" sz="2400" dirty="0" err="1"/>
                  <a:t>period</a:t>
                </a:r>
                <a:r>
                  <a:rPr lang="hu-HU" sz="2400" dirty="0"/>
                  <a:t>, </a:t>
                </a:r>
                <a:r>
                  <a:rPr lang="hu-HU" sz="2400" dirty="0" err="1"/>
                  <a:t>the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size</a:t>
                </a:r>
                <a:r>
                  <a:rPr lang="hu-HU" sz="2400" dirty="0"/>
                  <a:t> of </a:t>
                </a:r>
                <a:r>
                  <a:rPr lang="hu-HU" sz="2400" dirty="0" err="1"/>
                  <a:t>which</a:t>
                </a:r>
                <a:r>
                  <a:rPr lang="hu-HU" sz="2400" dirty="0"/>
                  <a:t> is a </a:t>
                </a:r>
                <a:r>
                  <a:rPr lang="hu-HU" sz="2400" dirty="0" err="1"/>
                  <a:t>Mersenne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prime</a:t>
                </a:r>
                <a:r>
                  <a:rPr lang="hu-HU" sz="2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hu-HU" sz="2400" dirty="0"/>
                  <a:t>)</a:t>
                </a:r>
              </a:p>
              <a:p>
                <a:pPr lvl="1"/>
                <a:r>
                  <a:rPr lang="hu-HU" sz="2000" dirty="0" err="1"/>
                  <a:t>Because</a:t>
                </a:r>
                <a:r>
                  <a:rPr lang="hu-HU" sz="2000" dirty="0"/>
                  <a:t> of </a:t>
                </a:r>
                <a:r>
                  <a:rPr lang="hu-HU" sz="2000" dirty="0" err="1"/>
                  <a:t>this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long</a:t>
                </a:r>
                <a:r>
                  <a:rPr lang="hu-HU" sz="2000" dirty="0"/>
                  <a:t> </a:t>
                </a:r>
                <a:r>
                  <a:rPr lang="hu-HU" sz="2000" dirty="0" err="1"/>
                  <a:t>period</a:t>
                </a:r>
                <a:r>
                  <a:rPr lang="hu-HU" sz="2000" dirty="0"/>
                  <a:t>,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same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pattern</a:t>
                </a:r>
                <a:r>
                  <a:rPr lang="hu-HU" sz="2000" dirty="0"/>
                  <a:t> </a:t>
                </a:r>
                <a:r>
                  <a:rPr lang="hu-HU" sz="2000" dirty="0" err="1"/>
                  <a:t>will</a:t>
                </a:r>
                <a:r>
                  <a:rPr lang="hu-HU" sz="2000" dirty="0"/>
                  <a:t> </a:t>
                </a:r>
                <a:r>
                  <a:rPr lang="hu-HU" sz="2000" dirty="0" err="1"/>
                  <a:t>not</a:t>
                </a:r>
                <a:r>
                  <a:rPr lang="hu-HU" sz="2000" dirty="0"/>
                  <a:t> be re-</a:t>
                </a:r>
                <a:r>
                  <a:rPr lang="hu-HU" sz="2000" dirty="0" err="1"/>
                  <a:t>generated</a:t>
                </a:r>
                <a:r>
                  <a:rPr lang="hu-HU" sz="2000" dirty="0"/>
                  <a:t> </a:t>
                </a:r>
                <a:r>
                  <a:rPr lang="hu-HU" sz="2000" dirty="0" err="1"/>
                  <a:t>within</a:t>
                </a:r>
                <a:r>
                  <a:rPr lang="hu-HU" sz="2000" dirty="0"/>
                  <a:t> a </a:t>
                </a:r>
                <a:r>
                  <a:rPr lang="hu-HU" sz="2000" dirty="0" err="1"/>
                  <a:t>foreseeable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amount</a:t>
                </a:r>
                <a:r>
                  <a:rPr lang="hu-HU" sz="2000" dirty="0"/>
                  <a:t> of </a:t>
                </a:r>
                <a:r>
                  <a:rPr lang="hu-HU" sz="2000" dirty="0" err="1"/>
                  <a:t>time</a:t>
                </a:r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9" r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89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</a:t>
            </a:r>
            <a:r>
              <a:rPr lang="hu-HU" dirty="0" err="1"/>
              <a:t>Chi-Square</a:t>
            </a:r>
            <a:r>
              <a:rPr lang="hu-HU" dirty="0"/>
              <a:t> Test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 fontScale="850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hu-HU" sz="2400" dirty="0" err="1"/>
                  <a:t>Checks</a:t>
                </a:r>
                <a:r>
                  <a:rPr lang="hu-HU" sz="2400" dirty="0"/>
                  <a:t> </a:t>
                </a:r>
                <a:r>
                  <a:rPr lang="hu-HU" sz="2400" dirty="0" err="1"/>
                  <a:t>whether</a:t>
                </a:r>
                <a:r>
                  <a:rPr lang="hu-HU" sz="2400" dirty="0"/>
                  <a:t> </a:t>
                </a:r>
                <a:r>
                  <a:rPr lang="hu-HU" sz="2400" dirty="0" err="1"/>
                  <a:t>the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observed</a:t>
                </a:r>
                <a:r>
                  <a:rPr lang="hu-HU" sz="2400" dirty="0"/>
                  <a:t> </a:t>
                </a:r>
                <a:r>
                  <a:rPr lang="hu-HU" sz="2400" dirty="0" err="1"/>
                  <a:t>frequencies</a:t>
                </a:r>
                <a:r>
                  <a:rPr lang="hu-HU" sz="2400" dirty="0"/>
                  <a:t> </a:t>
                </a:r>
                <a:r>
                  <a:rPr lang="hu-HU" sz="2400" dirty="0" err="1"/>
                  <a:t>match</a:t>
                </a:r>
                <a:r>
                  <a:rPr lang="hu-HU" sz="2400" dirty="0"/>
                  <a:t> </a:t>
                </a:r>
                <a:r>
                  <a:rPr lang="hu-HU" sz="2400" dirty="0" err="1"/>
                  <a:t>the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expected</a:t>
                </a:r>
                <a:r>
                  <a:rPr lang="hu-HU" sz="2400" dirty="0"/>
                  <a:t> </a:t>
                </a:r>
                <a:r>
                  <a:rPr lang="hu-HU" sz="2400" dirty="0" err="1"/>
                  <a:t>frequencies</a:t>
                </a:r>
                <a:endParaRPr lang="hu-HU" sz="2400" dirty="0"/>
              </a:p>
              <a:p>
                <a:pPr lvl="1">
                  <a:lnSpc>
                    <a:spcPct val="110000"/>
                  </a:lnSpc>
                </a:pPr>
                <a:r>
                  <a:rPr lang="hu-HU" sz="2000" dirty="0" err="1"/>
                  <a:t>Whether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numbers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are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evenly</a:t>
                </a:r>
                <a:r>
                  <a:rPr lang="hu-HU" sz="2000" dirty="0"/>
                  <a:t> </a:t>
                </a:r>
                <a:r>
                  <a:rPr lang="hu-HU" sz="2000" dirty="0" err="1"/>
                  <a:t>distributed</a:t>
                </a:r>
                <a:r>
                  <a:rPr lang="hu-HU" sz="2000" dirty="0"/>
                  <a:t> </a:t>
                </a:r>
                <a:r>
                  <a:rPr lang="hu-HU" sz="2000" dirty="0" err="1"/>
                  <a:t>across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different</a:t>
                </a:r>
                <a:r>
                  <a:rPr lang="hu-HU" sz="2000" dirty="0"/>
                  <a:t> </a:t>
                </a:r>
                <a:r>
                  <a:rPr lang="hu-HU" sz="2000" dirty="0" err="1"/>
                  <a:t>intervals</a:t>
                </a:r>
                <a:endParaRPr lang="hu-HU" sz="2000" dirty="0"/>
              </a:p>
              <a:p>
                <a:pPr>
                  <a:lnSpc>
                    <a:spcPct val="110000"/>
                  </a:lnSpc>
                </a:pPr>
                <a:r>
                  <a:rPr lang="hu-HU" sz="2400" dirty="0" err="1"/>
                  <a:t>Mathematical</a:t>
                </a:r>
                <a:r>
                  <a:rPr lang="hu-HU" sz="2400" dirty="0"/>
                  <a:t> </a:t>
                </a:r>
                <a:r>
                  <a:rPr lang="hu-HU" sz="2400" dirty="0" err="1"/>
                  <a:t>Basis</a:t>
                </a:r>
                <a:r>
                  <a:rPr lang="hu-HU" sz="2400" dirty="0"/>
                  <a:t>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u-HU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hu-HU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type m:val="lin"/>
                              <m:ctrlP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hu-HU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hu-HU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hu-HU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hu-HU" sz="2400" dirty="0" err="1"/>
                  <a:t>Where</a:t>
                </a:r>
                <a:r>
                  <a:rPr lang="hu-HU" sz="2400" dirty="0"/>
                  <a:t>: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u-H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u-HU" sz="2000" dirty="0"/>
                  <a:t> = </a:t>
                </a:r>
                <a:r>
                  <a:rPr lang="hu-HU" sz="2000" dirty="0" err="1"/>
                  <a:t>Observed</a:t>
                </a:r>
                <a:r>
                  <a:rPr lang="hu-HU" sz="2000" dirty="0"/>
                  <a:t> </a:t>
                </a:r>
                <a:r>
                  <a:rPr lang="hu-HU" sz="2000" dirty="0" err="1"/>
                  <a:t>frequency</a:t>
                </a:r>
                <a:r>
                  <a:rPr lang="hu-HU" sz="2000" dirty="0"/>
                  <a:t> in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i-</a:t>
                </a:r>
                <a:r>
                  <a:rPr lang="hu-HU" sz="2000" dirty="0" err="1"/>
                  <a:t>th</a:t>
                </a:r>
                <a:r>
                  <a:rPr lang="hu-HU" sz="2000" dirty="0"/>
                  <a:t> </a:t>
                </a:r>
                <a:r>
                  <a:rPr lang="hu-HU" sz="2000" dirty="0" err="1"/>
                  <a:t>interval</a:t>
                </a:r>
                <a:endParaRPr lang="hu-HU" sz="2000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u-H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u-HU" sz="2000" dirty="0"/>
                  <a:t> = </a:t>
                </a:r>
                <a:r>
                  <a:rPr lang="hu-HU" sz="2000" dirty="0" err="1"/>
                  <a:t>Expected</a:t>
                </a:r>
                <a:r>
                  <a:rPr lang="hu-HU" sz="2000" dirty="0"/>
                  <a:t> </a:t>
                </a:r>
                <a:r>
                  <a:rPr lang="hu-HU" sz="2000" dirty="0" err="1"/>
                  <a:t>frequency</a:t>
                </a:r>
                <a:r>
                  <a:rPr lang="hu-HU" sz="2000" dirty="0"/>
                  <a:t> in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i-</a:t>
                </a:r>
                <a:r>
                  <a:rPr lang="hu-HU" sz="2000" dirty="0" err="1"/>
                  <a:t>th</a:t>
                </a:r>
                <a:r>
                  <a:rPr lang="hu-HU" sz="2000" dirty="0"/>
                  <a:t> </a:t>
                </a:r>
                <a:r>
                  <a:rPr lang="hu-HU" sz="2000" dirty="0" err="1"/>
                  <a:t>interval</a:t>
                </a:r>
                <a:endParaRPr lang="hu-HU" sz="2000" dirty="0"/>
              </a:p>
              <a:p>
                <a:pPr>
                  <a:lnSpc>
                    <a:spcPct val="110000"/>
                  </a:lnSpc>
                </a:pPr>
                <a:r>
                  <a:rPr lang="hu-HU" sz="2000" dirty="0"/>
                  <a:t>Sum </a:t>
                </a:r>
                <a:r>
                  <a:rPr lang="hu-HU" sz="2000" dirty="0" err="1"/>
                  <a:t>this</a:t>
                </a:r>
                <a:r>
                  <a:rPr lang="hu-HU" sz="2000" dirty="0"/>
                  <a:t> over </a:t>
                </a:r>
                <a:r>
                  <a:rPr lang="hu-HU" sz="2000" dirty="0" err="1"/>
                  <a:t>all</a:t>
                </a:r>
                <a:r>
                  <a:rPr lang="hu-HU" sz="2000" dirty="0"/>
                  <a:t> (k) </a:t>
                </a:r>
                <a:r>
                  <a:rPr lang="hu-HU" sz="2000" dirty="0" err="1"/>
                  <a:t>intervals</a:t>
                </a:r>
                <a:endParaRPr lang="hu-HU" sz="2000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03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AB37B7-0576-B3D4-BA67-F9A0C701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Bonus </a:t>
            </a:r>
            <a:r>
              <a:rPr lang="hu-HU" dirty="0" err="1"/>
              <a:t>Points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74C4FA-9135-9761-2048-51BA62D5B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hu-HU" sz="2400" dirty="0"/>
              <a:t>Local </a:t>
            </a:r>
            <a:r>
              <a:rPr lang="hu-HU" sz="2400" dirty="0" err="1"/>
              <a:t>Memory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hu-HU" sz="2400" dirty="0"/>
              <a:t>Workgroups </a:t>
            </a:r>
          </a:p>
          <a:p>
            <a:pPr>
              <a:lnSpc>
                <a:spcPct val="110000"/>
              </a:lnSpc>
            </a:pPr>
            <a:r>
              <a:rPr lang="hu-HU" sz="2400" dirty="0"/>
              <a:t>Profiling</a:t>
            </a:r>
          </a:p>
          <a:p>
            <a:pPr>
              <a:lnSpc>
                <a:spcPct val="110000"/>
              </a:lnSpc>
            </a:pPr>
            <a:r>
              <a:rPr lang="hu-HU" sz="2400" dirty="0"/>
              <a:t>Testing (+1)</a:t>
            </a:r>
          </a:p>
          <a:p>
            <a:pPr lvl="1">
              <a:lnSpc>
                <a:spcPct val="110000"/>
              </a:lnSpc>
            </a:pPr>
            <a:r>
              <a:rPr lang="hu-HU" sz="2000" dirty="0" err="1"/>
              <a:t>Kolmogorov-Smirnov</a:t>
            </a:r>
            <a:r>
              <a:rPr lang="hu-HU" sz="2000" dirty="0"/>
              <a:t> / </a:t>
            </a:r>
            <a:r>
              <a:rPr lang="hu-HU" sz="2000" dirty="0" err="1"/>
              <a:t>Autocorrection</a:t>
            </a:r>
            <a:endParaRPr lang="hu-HU" sz="2000" dirty="0"/>
          </a:p>
          <a:p>
            <a:pPr>
              <a:lnSpc>
                <a:spcPct val="110000"/>
              </a:lnSpc>
            </a:pPr>
            <a:r>
              <a:rPr lang="hu-HU" sz="2400" dirty="0"/>
              <a:t>Monte Carlo </a:t>
            </a:r>
            <a:r>
              <a:rPr lang="hu-HU" sz="2400" dirty="0" err="1"/>
              <a:t>simulation</a:t>
            </a:r>
            <a:endParaRPr lang="hu-HU" sz="2400" dirty="0"/>
          </a:p>
          <a:p>
            <a:pPr lvl="1">
              <a:lnSpc>
                <a:spcPct val="110000"/>
              </a:lnSpc>
            </a:pPr>
            <a:r>
              <a:rPr lang="el-GR" sz="2000" dirty="0"/>
              <a:t>π</a:t>
            </a:r>
            <a:r>
              <a:rPr lang="hu-HU" sz="2000" dirty="0"/>
              <a:t> </a:t>
            </a:r>
            <a:r>
              <a:rPr lang="hu-HU" sz="2000" dirty="0" err="1"/>
              <a:t>estimation</a:t>
            </a:r>
            <a:endParaRPr lang="hu-HU" sz="2000" dirty="0"/>
          </a:p>
          <a:p>
            <a:pPr lvl="1">
              <a:lnSpc>
                <a:spcPct val="110000"/>
              </a:lnSpc>
            </a:pPr>
            <a:r>
              <a:rPr lang="hu-HU" sz="2000" dirty="0"/>
              <a:t>Financial </a:t>
            </a:r>
            <a:r>
              <a:rPr lang="hu-HU" sz="2000" dirty="0" err="1"/>
              <a:t>Simulation</a:t>
            </a:r>
            <a:r>
              <a:rPr lang="hu-HU" sz="2000" dirty="0"/>
              <a:t> (</a:t>
            </a:r>
            <a:r>
              <a:rPr lang="hu-HU" sz="2000" i="1" dirty="0" err="1"/>
              <a:t>Option</a:t>
            </a:r>
            <a:r>
              <a:rPr lang="hu-HU" sz="2000" i="1" dirty="0"/>
              <a:t> </a:t>
            </a:r>
            <a:r>
              <a:rPr lang="hu-HU" sz="2000" i="1" dirty="0" err="1"/>
              <a:t>Pricing</a:t>
            </a:r>
            <a:r>
              <a:rPr lang="hu-HU" sz="2000" i="1" dirty="0"/>
              <a:t>, </a:t>
            </a:r>
            <a:r>
              <a:rPr lang="hu-HU" sz="2000" i="1" dirty="0" err="1"/>
              <a:t>VaR</a:t>
            </a:r>
            <a:r>
              <a:rPr lang="hu-HU" sz="2000" dirty="0"/>
              <a:t>)</a:t>
            </a:r>
            <a:endParaRPr lang="hu-HU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263407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AB37B7-0576-B3D4-BA67-F9A0C701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14. Monte Carlo (</a:t>
            </a:r>
            <a:r>
              <a:rPr lang="el-GR" dirty="0"/>
              <a:t>π</a:t>
            </a:r>
            <a:r>
              <a:rPr lang="hu-HU" dirty="0"/>
              <a:t> </a:t>
            </a:r>
            <a:r>
              <a:rPr lang="hu-HU" dirty="0" err="1"/>
              <a:t>estimation</a:t>
            </a:r>
            <a:r>
              <a:rPr lang="hu-H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A74C4FA-9135-9761-2048-51BA62D5B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 fontScale="85000" lnSpcReduction="10000"/>
              </a:bodyPr>
              <a:lstStyle/>
              <a:p>
                <a:r>
                  <a:rPr lang="hu-HU" sz="2400" dirty="0"/>
                  <a:t>Uses a 2D </a:t>
                </a:r>
                <a:r>
                  <a:rPr lang="hu-HU" sz="2400" dirty="0" err="1"/>
                  <a:t>square</a:t>
                </a:r>
                <a:r>
                  <a:rPr lang="hu-HU" sz="2400" dirty="0"/>
                  <a:t> and </a:t>
                </a:r>
                <a:r>
                  <a:rPr lang="hu-HU" sz="2400" dirty="0" err="1"/>
                  <a:t>circle</a:t>
                </a:r>
                <a:endParaRPr lang="hu-HU" sz="2400" dirty="0"/>
              </a:p>
              <a:p>
                <a:r>
                  <a:rPr lang="hu-HU" sz="2400" dirty="0"/>
                  <a:t>The center of </a:t>
                </a:r>
                <a:r>
                  <a:rPr lang="hu-HU" sz="2400" dirty="0" err="1"/>
                  <a:t>both</a:t>
                </a:r>
                <a:r>
                  <a:rPr lang="hu-HU" sz="2400" dirty="0"/>
                  <a:t> </a:t>
                </a:r>
                <a:r>
                  <a:rPr lang="hu-HU" sz="2400" dirty="0" err="1"/>
                  <a:t>shapes</a:t>
                </a:r>
                <a:r>
                  <a:rPr lang="hu-HU" sz="2400" dirty="0"/>
                  <a:t> is </a:t>
                </a:r>
                <a:r>
                  <a:rPr lang="hu-HU" sz="2400" dirty="0" err="1"/>
                  <a:t>the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origin</a:t>
                </a:r>
                <a:endParaRPr lang="hu-HU" sz="2400" dirty="0"/>
              </a:p>
              <a:p>
                <a:r>
                  <a:rPr lang="hu-HU" sz="2400" dirty="0" err="1"/>
                  <a:t>Properties</a:t>
                </a:r>
                <a:r>
                  <a:rPr lang="hu-HU" sz="2400" dirty="0"/>
                  <a:t> of </a:t>
                </a:r>
                <a:r>
                  <a:rPr lang="hu-HU" sz="2400" dirty="0" err="1"/>
                  <a:t>the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shapes</a:t>
                </a:r>
                <a:r>
                  <a:rPr lang="hu-HU" sz="2400" dirty="0"/>
                  <a:t>:</a:t>
                </a:r>
              </a:p>
              <a:p>
                <a:pPr lvl="1"/>
                <a:r>
                  <a:rPr lang="hu-HU" sz="2000" dirty="0" err="1"/>
                  <a:t>Square</a:t>
                </a:r>
                <a:r>
                  <a:rPr lang="hu-HU" sz="2000" baseline="-25000" dirty="0" err="1"/>
                  <a:t>d</a:t>
                </a:r>
                <a:r>
                  <a:rPr lang="hu-HU" sz="2000" baseline="-25000" dirty="0"/>
                  <a:t>=2</a:t>
                </a:r>
                <a:r>
                  <a:rPr lang="hu-HU" sz="2000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hu-HU" sz="20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hu-H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u-HU" sz="2000" b="0" i="1">
                        <a:latin typeface="Cambria Math" panose="02040503050406030204" pitchFamily="18" charset="0"/>
                      </a:rPr>
                      <m:t>=2 ∗2=4</m:t>
                    </m:r>
                  </m:oMath>
                </a14:m>
                <a:endParaRPr lang="hu-HU" sz="2000" dirty="0"/>
              </a:p>
              <a:p>
                <a:pPr lvl="1"/>
                <a:r>
                  <a:rPr lang="hu-HU" sz="2000" dirty="0" err="1"/>
                  <a:t>Circle</a:t>
                </a:r>
                <a:r>
                  <a:rPr lang="hu-HU" sz="2000" baseline="-25000" dirty="0" err="1"/>
                  <a:t>r</a:t>
                </a:r>
                <a:r>
                  <a:rPr lang="hu-HU" sz="2000" baseline="-25000" dirty="0"/>
                  <a:t>=1 </a:t>
                </a:r>
                <a:r>
                  <a:rPr lang="hu-HU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hu-HU" sz="2000" b="0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l-GR" sz="2000" b="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hu-HU" sz="2000" b="0" i="1">
                        <a:latin typeface="Cambria Math" panose="02040503050406030204" pitchFamily="18" charset="0"/>
                      </a:rPr>
                      <m:t> ∗ </m:t>
                    </m:r>
                    <m:sSup>
                      <m:sSupPr>
                        <m:ctrlPr>
                          <a:rPr lang="hu-H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u-HU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hu-HU" sz="2000" b="0" i="1">
                        <a:latin typeface="Cambria Math" panose="02040503050406030204" pitchFamily="18" charset="0"/>
                      </a:rPr>
                      <m:t> ∗ </m:t>
                    </m:r>
                    <m:sSup>
                      <m:sSupPr>
                        <m:ctrlPr>
                          <a:rPr lang="hu-H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hu-H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u-HU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hu-HU" sz="2000" dirty="0"/>
              </a:p>
              <a:p>
                <a:r>
                  <a:rPr lang="hu-HU" sz="2400" dirty="0" err="1"/>
                  <a:t>Operation</a:t>
                </a:r>
                <a:r>
                  <a:rPr lang="hu-HU" sz="2400" dirty="0"/>
                  <a:t>:</a:t>
                </a:r>
              </a:p>
              <a:p>
                <a:pPr lvl="1"/>
                <a:r>
                  <a:rPr lang="hu-HU" sz="2000" dirty="0" err="1"/>
                  <a:t>Generating</a:t>
                </a:r>
                <a:r>
                  <a:rPr lang="hu-HU" sz="2000" dirty="0"/>
                  <a:t> random </a:t>
                </a:r>
                <a:r>
                  <a:rPr lang="hu-HU" sz="2000" dirty="0" err="1"/>
                  <a:t>points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inside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square</a:t>
                </a:r>
                <a:endParaRPr lang="hu-HU" sz="2000" dirty="0"/>
              </a:p>
              <a:p>
                <a:pPr lvl="1"/>
                <a:r>
                  <a:rPr lang="hu-HU" sz="2000" dirty="0"/>
                  <a:t>The ration of </a:t>
                </a:r>
                <a:r>
                  <a:rPr lang="hu-HU" sz="2000" dirty="0" err="1"/>
                  <a:t>points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inside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circle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to</a:t>
                </a:r>
                <a:r>
                  <a:rPr lang="hu-HU" sz="2000" dirty="0"/>
                  <a:t> </a:t>
                </a:r>
                <a:r>
                  <a:rPr lang="hu-HU" sz="2000" dirty="0" err="1"/>
                  <a:t>points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inside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square</a:t>
                </a:r>
                <a:r>
                  <a:rPr lang="hu-HU" sz="2000" dirty="0"/>
                  <a:t>, </a:t>
                </a:r>
                <a:r>
                  <a:rPr lang="hu-HU" sz="2000" dirty="0" err="1"/>
                  <a:t>multiplied</a:t>
                </a:r>
                <a:r>
                  <a:rPr lang="hu-HU" sz="2000" dirty="0"/>
                  <a:t> </a:t>
                </a:r>
                <a:r>
                  <a:rPr lang="hu-HU" sz="2000" dirty="0" err="1"/>
                  <a:t>by</a:t>
                </a:r>
                <a:r>
                  <a:rPr lang="hu-HU" sz="2000" dirty="0"/>
                  <a:t> </a:t>
                </a:r>
                <a:r>
                  <a:rPr lang="hu-HU" sz="2000" dirty="0" err="1"/>
                  <a:t>four</a:t>
                </a:r>
                <a:r>
                  <a:rPr lang="hu-HU" sz="2000" dirty="0"/>
                  <a:t>, </a:t>
                </a:r>
                <a:r>
                  <a:rPr lang="hu-HU" sz="2000" dirty="0" err="1"/>
                  <a:t>will</a:t>
                </a:r>
                <a:r>
                  <a:rPr lang="hu-HU" sz="2000" dirty="0"/>
                  <a:t> </a:t>
                </a:r>
                <a:r>
                  <a:rPr lang="hu-HU" sz="2000" dirty="0" err="1"/>
                  <a:t>equal</a:t>
                </a:r>
                <a:r>
                  <a:rPr lang="hu-HU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hu-HU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u-H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hu-H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𝑃𝑜𝑖𝑛𝑡𝑠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𝑐𝑖𝑟𝑐𝑙𝑒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𝑃𝑜𝑖𝑛𝑡𝑠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𝑖𝑛𝑠𝑖𝑑𝑒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hu-HU" sz="2000" b="0" i="1" smtClean="0">
                                  <a:latin typeface="Cambria Math" panose="02040503050406030204" pitchFamily="18" charset="0"/>
                                </a:rPr>
                                <m:t>𝑠𝑞𝑢𝑎𝑟𝑒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u-HU" sz="2000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A74C4FA-9135-9761-2048-51BA62D5B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71" t="-2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44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17A804-9600-9D38-5323-CEEADE3E0C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Thank</a:t>
            </a:r>
            <a:r>
              <a:rPr lang="hu-HU" dirty="0"/>
              <a:t> </a:t>
            </a:r>
            <a:r>
              <a:rPr lang="hu-HU" dirty="0" err="1"/>
              <a:t>you</a:t>
            </a:r>
            <a:r>
              <a:rPr lang="hu-HU" dirty="0"/>
              <a:t>!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3ED9056-4872-9407-3431-C88772165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587383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Körülvágás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örülvágá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örülvágá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Körülvágás</Template>
  <TotalTime>241</TotalTime>
  <Words>369</Words>
  <Application>Microsoft Office PowerPoint</Application>
  <PresentationFormat>Szélesvásznú</PresentationFormat>
  <Paragraphs>59</Paragraphs>
  <Slides>8</Slides>
  <Notes>5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9" baseType="lpstr">
      <vt:lpstr>Körülvágás</vt:lpstr>
      <vt:lpstr>Design Plans for Assignment 14</vt:lpstr>
      <vt:lpstr>14. Linear Congruential Generator</vt:lpstr>
      <vt:lpstr>14. XORshift Generator</vt:lpstr>
      <vt:lpstr>14. Mersenne Twister (opc)</vt:lpstr>
      <vt:lpstr>14. Chi-Square Test</vt:lpstr>
      <vt:lpstr>14. Bonus Points</vt:lpstr>
      <vt:lpstr>14. Monte Carlo (π estimation)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Cigányok</dc:title>
  <dc:creator>Gergő Márton</dc:creator>
  <cp:lastModifiedBy>Gergő Márton</cp:lastModifiedBy>
  <cp:revision>16</cp:revision>
  <dcterms:created xsi:type="dcterms:W3CDTF">2026-03-11T20:27:10Z</dcterms:created>
  <dcterms:modified xsi:type="dcterms:W3CDTF">2026-03-19T17:05:53Z</dcterms:modified>
</cp:coreProperties>
</file>