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00D5B3-7A91-CDA6-F999-971F83BCC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FC0FD04-697A-84A6-CBD9-3C5191647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C90C56-40EC-8895-A8F4-AAE0CD6B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B2FF61-0137-E334-787F-2A51F738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73AD1A3-A62A-3148-F6BF-A274AC0A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4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A1FF54-2D52-B1F7-FF05-AC5077537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4BE06F-A6A2-8427-F09F-DBA24892D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DBEE35-6BBD-0ABA-42AA-6ED72EE6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10BC0F9-D489-36A0-1126-98EFF46A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F0B0C21-ECA8-6E52-34BE-2ADCED0C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5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CA0060-8F7C-56EA-FDD7-D8F01A6F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E4C0C5C-1033-9451-36ED-32EE85D91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E411F51-FAC3-0B10-5CB6-CD53DBF5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B5EB780-8FF5-5469-4714-710FBBB2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9752C97-2D68-2748-A08D-760F77F9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3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D19B8E-EB7A-6D7C-03A5-DF1B9D806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ABC23E-2D92-967E-01C2-782489313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321284-12F9-ECD3-26F4-689D4DBDF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380E0BF-F4FE-49CE-3CCD-C385F97E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5A99098-9760-1F93-9069-78CD016A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B4FD5B0-B767-4F1C-AE7B-DB22C1D5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5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868B52-9FB2-2FF3-2E93-9EE493E72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4A3FB15-8537-2041-CC21-4EF43B559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D9211DD-1121-61BF-475A-823326950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508D235-FEA0-9F0B-6807-3FD2526F8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2EACBBB-0DBE-E555-9D4C-888E015E2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944C88F-9B13-DE95-FC0C-3C9693875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1F8AF65-1FC2-1C51-1356-DDDC0723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2462BD7-E9E1-A6AA-B6CE-499DAF47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85276A-5767-3AB5-BD4E-62A6819B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D9D9FD5-0CE0-471B-EFE8-6F805285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89D6F52-C6F3-5811-FD6F-01CD9841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D2A74C6-667C-A668-C2BF-9AD7621C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1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DD72453-4710-2C6D-2B48-EDE864F0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674EF68-941F-E261-4FA0-2B5173EA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9382C7F-C613-F452-8EBF-E3F7FD81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6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D175E7-3760-B78A-5910-C14DDC5A4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25F766-D79C-B933-76F0-678B2440F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89D718B-3F01-7E40-AE4D-584A047D7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3272D53-80D8-7EF8-2469-66A3E44D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2984110-BD52-8CCB-9EED-DBD339F5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B3FA36C-C952-5C33-CCE0-AB74B372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7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9E5ED4-CB8A-E134-046A-84C806C6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871FAA35-F45B-6831-062F-460ECBB3F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EFA8638-EDC3-6D87-4A2E-9192D7AF8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F668A4C-13A5-E00A-31F1-45452CA2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87E69E9-2CF1-6557-CA89-2604EDE6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29CAC95-F8F2-9715-B07D-38600BC1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AA7139-2CA6-B69F-E1A4-1281EE69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B752548-194A-9AC3-0B86-A85CF042E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6554FE-664C-3935-8624-EA1A2E8C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8269E8-12F7-C8C2-74EC-FA8EC8AA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3DB49F-AB67-B346-C02D-7E05C849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1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BAA87D8-71DF-85AE-09A9-B267721E2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AD7189F-6711-EC61-57E0-E8214E871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0295CB-D57E-75EF-298B-F72E104C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25FA84-B9C4-56EB-C3BC-6DB55C177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122376-8D75-318A-C929-69A1C965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BBC330C-5C93-B302-90D1-43B2F21B4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8488F62-ED94-831F-762B-4A8C80255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8D47AC-1CED-CD25-16D4-E92283BE8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D2551-2020-46B6-9FCF-E4ABF065C08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F52860-8AB7-DDE8-FF59-6A684FE21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E9C5338-4A4C-2996-9304-39DAD2B46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7C6AC-59B2-4505-A03A-3EC2A445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2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BCC0EC-6B5D-2931-C6B4-E347B7C25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Cigányok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F40A604-BF02-EFE0-4E80-9D21980152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Leszkovszky</a:t>
            </a:r>
            <a:r>
              <a:rPr lang="hu-HU" dirty="0"/>
              <a:t> Alexandra, </a:t>
            </a:r>
            <a:r>
              <a:rPr lang="hu-HU" dirty="0" err="1"/>
              <a:t>Kaselyák</a:t>
            </a:r>
            <a:r>
              <a:rPr lang="hu-HU" dirty="0"/>
              <a:t> Péter, Márton Gergő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93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Kiválasztott Feladatok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F7EB23-E71A-5CDA-584F-D1DAA6C2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14. Feladat – </a:t>
            </a:r>
            <a:r>
              <a:rPr lang="hu-HU" dirty="0" err="1"/>
              <a:t>Linear</a:t>
            </a:r>
            <a:r>
              <a:rPr lang="hu-HU" dirty="0"/>
              <a:t> </a:t>
            </a:r>
            <a:r>
              <a:rPr lang="hu-HU" dirty="0" err="1"/>
              <a:t>Congruential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u-HU" dirty="0"/>
                  <a:t>Számok kiszámítása: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 ∗ </m:t>
                          </m:r>
                          <m:sSub>
                            <m:sSub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hu-HU" dirty="0"/>
              </a:p>
              <a:p>
                <a:r>
                  <a:rPr lang="hu-HU" dirty="0"/>
                  <a:t>Ahol a következőket jelentik a szimbólumok:</a:t>
                </a:r>
              </a:p>
              <a:p>
                <a:pPr lvl="1"/>
                <a:r>
                  <a:rPr lang="hu-HU" dirty="0"/>
                  <a:t>a: szorzó</a:t>
                </a:r>
              </a:p>
              <a:p>
                <a:pPr lvl="1"/>
                <a:r>
                  <a:rPr lang="hu-HU" dirty="0"/>
                  <a:t>c: inkrementum</a:t>
                </a:r>
              </a:p>
              <a:p>
                <a:pPr lvl="1"/>
                <a:r>
                  <a:rPr lang="hu-HU" dirty="0"/>
                  <a:t>m: modulus, általában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hu-HU" dirty="0"/>
                  <a:t> vagy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endParaRPr lang="hu-H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u-HU" dirty="0"/>
                  <a:t>: a mostani random szám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hu-HU" dirty="0"/>
                  <a:t>: a következő random szám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60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14. Feladat – </a:t>
            </a:r>
            <a:r>
              <a:rPr lang="hu-HU" dirty="0" err="1"/>
              <a:t>XORshift</a:t>
            </a:r>
            <a:r>
              <a:rPr lang="hu-HU" dirty="0"/>
              <a:t> </a:t>
            </a:r>
            <a:r>
              <a:rPr lang="hu-HU" dirty="0" err="1"/>
              <a:t>Generator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F7EB23-E71A-5CDA-584F-D1DAA6C2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1307"/>
          </a:xfrm>
        </p:spPr>
        <p:txBody>
          <a:bodyPr>
            <a:normAutofit/>
          </a:bodyPr>
          <a:lstStyle/>
          <a:p>
            <a:r>
              <a:rPr lang="hu-HU" dirty="0"/>
              <a:t>Biteken értelmezett XOR és tolás műveleteket alkalmaz a randomok előállításához</a:t>
            </a:r>
          </a:p>
          <a:p>
            <a:r>
              <a:rPr lang="hu-HU" dirty="0"/>
              <a:t>Mintaprogram (32 bites):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EBC075C2-8921-D091-6AEA-F14A19397922}"/>
              </a:ext>
            </a:extLst>
          </p:cNvPr>
          <p:cNvSpPr txBox="1"/>
          <p:nvPr/>
        </p:nvSpPr>
        <p:spPr>
          <a:xfrm>
            <a:off x="838200" y="3426903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/>
              <a:t>uint32_t xorshift32(uint32_t *state) {</a:t>
            </a:r>
          </a:p>
          <a:p>
            <a:pPr marL="0" indent="0">
              <a:buNone/>
            </a:pPr>
            <a:r>
              <a:rPr lang="en-US" sz="1800" dirty="0"/>
              <a:t>    uint32_t x = *state;</a:t>
            </a:r>
          </a:p>
          <a:p>
            <a:pPr marL="0" indent="0">
              <a:buNone/>
            </a:pPr>
            <a:r>
              <a:rPr lang="en-US" sz="1800" dirty="0"/>
              <a:t>    x ^= x &lt;&lt; 13;</a:t>
            </a:r>
          </a:p>
          <a:p>
            <a:pPr marL="0" indent="0">
              <a:buNone/>
            </a:pPr>
            <a:r>
              <a:rPr lang="en-US" sz="1800" dirty="0"/>
              <a:t>    x ^= x &gt;&gt; 17;</a:t>
            </a:r>
          </a:p>
          <a:p>
            <a:pPr marL="0" indent="0">
              <a:buNone/>
            </a:pPr>
            <a:r>
              <a:rPr lang="en-US" sz="1800" dirty="0"/>
              <a:t>    x ^= x &lt;&lt; 5;</a:t>
            </a:r>
          </a:p>
          <a:p>
            <a:pPr marL="0" indent="0">
              <a:buNone/>
            </a:pPr>
            <a:r>
              <a:rPr lang="en-US" sz="1800" dirty="0"/>
              <a:t>    *state = x;</a:t>
            </a:r>
          </a:p>
          <a:p>
            <a:pPr marL="0" indent="0">
              <a:buNone/>
            </a:pPr>
            <a:r>
              <a:rPr lang="en-US" sz="1800" dirty="0"/>
              <a:t>    return x;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736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14. Feladat – </a:t>
            </a:r>
            <a:r>
              <a:rPr lang="hu-HU" dirty="0" err="1"/>
              <a:t>Mersenne</a:t>
            </a:r>
            <a:r>
              <a:rPr lang="hu-HU" dirty="0"/>
              <a:t> </a:t>
            </a:r>
            <a:r>
              <a:rPr lang="hu-HU" dirty="0" err="1"/>
              <a:t>Twister</a:t>
            </a:r>
            <a:r>
              <a:rPr lang="hu-HU" dirty="0"/>
              <a:t> (</a:t>
            </a:r>
            <a:r>
              <a:rPr lang="hu-HU" i="1" dirty="0" err="1"/>
              <a:t>opc</a:t>
            </a:r>
            <a:r>
              <a:rPr lang="hu-HU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hu-HU" dirty="0"/>
                  <a:t>Két lépésben generálja a számokat:</a:t>
                </a:r>
              </a:p>
              <a:p>
                <a:pPr lvl="1"/>
                <a:r>
                  <a:rPr lang="hu-HU" dirty="0"/>
                  <a:t>Egy nagy elemszámú tömböt generál ismétlődő elemekkel</a:t>
                </a:r>
              </a:p>
              <a:p>
                <a:pPr lvl="1"/>
                <a:r>
                  <a:rPr lang="hu-HU" dirty="0" err="1"/>
                  <a:t>Randomság</a:t>
                </a:r>
                <a:r>
                  <a:rPr lang="hu-HU" dirty="0"/>
                  <a:t> elősegítése érdekében az értékek megvariálása</a:t>
                </a:r>
              </a:p>
              <a:p>
                <a:pPr marL="457200" lvl="1" indent="0">
                  <a:buNone/>
                </a:pPr>
                <a:endParaRPr lang="hu-HU" dirty="0"/>
              </a:p>
              <a:p>
                <a:r>
                  <a:rPr lang="hu-HU" dirty="0"/>
                  <a:t>Nagy periódusa van, aminek mérete egy </a:t>
                </a:r>
                <a:r>
                  <a:rPr lang="hu-HU" dirty="0" err="1"/>
                  <a:t>Mersenne</a:t>
                </a:r>
                <a:r>
                  <a:rPr lang="hu-HU" dirty="0"/>
                  <a:t> prím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hu-HU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hu-HU" dirty="0"/>
                  <a:t>)</a:t>
                </a:r>
              </a:p>
              <a:p>
                <a:pPr lvl="1"/>
                <a:r>
                  <a:rPr lang="hu-HU" dirty="0"/>
                  <a:t>Emiatt a nagy periodicitás miatt belátható időn belül nem kerül újra generálásra ugyanaz a minta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8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9948C5-6014-E438-EDAC-AC1558A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14. Feladat – Khi-Négyzet Próba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hu-HU" dirty="0"/>
                  <a:t>Ellenőrzi, hogy a kapott frekvenciák egyeznek-e az elvártakkal</a:t>
                </a:r>
              </a:p>
              <a:p>
                <a:pPr lvl="1"/>
                <a:r>
                  <a:rPr lang="hu-HU" dirty="0"/>
                  <a:t>A számok egyenletesen vannak-e elosztva a különböző intervallumok között</a:t>
                </a:r>
              </a:p>
              <a:p>
                <a:r>
                  <a:rPr lang="hu-HU" dirty="0"/>
                  <a:t>Matematikai alap: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type m:val="lin"/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hu-HU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hu-HU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hu-HU" dirty="0"/>
              </a:p>
              <a:p>
                <a:pPr marL="0" indent="0">
                  <a:buNone/>
                </a:pPr>
                <a:r>
                  <a:rPr lang="hu-HU" dirty="0"/>
                  <a:t>Ahol: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dirty="0"/>
                  <a:t> = Kapott frekvencia az i. intervallumban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hu-H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u-HU" dirty="0"/>
                  <a:t> = Elvárt frekvencia az i. intervallumban</a:t>
                </a:r>
              </a:p>
              <a:p>
                <a:r>
                  <a:rPr lang="hu-HU" dirty="0"/>
                  <a:t>Összesítjük az összes (k) intervallumra</a:t>
                </a:r>
              </a:p>
            </p:txBody>
          </p:sp>
        </mc:Choice>
        <mc:Fallback xmlns="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id="{F5F7EB23-E71A-5CDA-584F-D1DAA6C27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3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AB37B7-0576-B3D4-BA67-F9A0C701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14. Feladat – Bónusz pontok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74C4FA-9135-9761-2048-51BA62D5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Lokális memória használata</a:t>
            </a:r>
            <a:endParaRPr lang="en-US" dirty="0"/>
          </a:p>
          <a:p>
            <a:r>
              <a:rPr lang="hu-HU" dirty="0" err="1"/>
              <a:t>Workgroup</a:t>
            </a:r>
            <a:r>
              <a:rPr lang="hu-HU" dirty="0"/>
              <a:t>-ok használata</a:t>
            </a:r>
            <a:endParaRPr lang="en-US" dirty="0"/>
          </a:p>
          <a:p>
            <a:r>
              <a:rPr lang="hu-HU" dirty="0"/>
              <a:t>Profiling segítségével mérhető teljesítmény</a:t>
            </a:r>
            <a:endParaRPr lang="en-US" dirty="0"/>
          </a:p>
          <a:p>
            <a:r>
              <a:rPr lang="en-US" dirty="0"/>
              <a:t>Monte Carlo </a:t>
            </a:r>
            <a:r>
              <a:rPr lang="hu-HU" dirty="0"/>
              <a:t>szimuláció</a:t>
            </a:r>
          </a:p>
          <a:p>
            <a:r>
              <a:rPr lang="hu-HU" dirty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07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E13FCF-0C98-E5E9-2783-0CA047CE0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12. Feladat – </a:t>
            </a:r>
            <a:r>
              <a:rPr lang="hu-HU" dirty="0" err="1"/>
              <a:t>Raytrace</a:t>
            </a:r>
            <a:r>
              <a:rPr lang="hu-HU" dirty="0"/>
              <a:t> The </a:t>
            </a:r>
            <a:r>
              <a:rPr lang="hu-HU" dirty="0" err="1"/>
              <a:t>Rainbow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46D682-A12A-560B-C5CE-115023B29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Napból jövő fény eléri az esőcseppet</a:t>
            </a:r>
          </a:p>
          <a:p>
            <a:r>
              <a:rPr lang="hu-HU" dirty="0"/>
              <a:t>Belép a vízbe → megtörik (</a:t>
            </a:r>
            <a:r>
              <a:rPr lang="hu-HU" dirty="0" err="1"/>
              <a:t>refraction</a:t>
            </a:r>
            <a:r>
              <a:rPr lang="hu-HU" dirty="0"/>
              <a:t>)</a:t>
            </a:r>
          </a:p>
          <a:p>
            <a:r>
              <a:rPr lang="hu-HU" dirty="0"/>
              <a:t>Visszaverődik a csepp </a:t>
            </a:r>
            <a:r>
              <a:rPr lang="hu-HU" dirty="0" err="1"/>
              <a:t>belsejében</a:t>
            </a:r>
            <a:r>
              <a:rPr lang="hu-HU" dirty="0"/>
              <a:t> (</a:t>
            </a:r>
            <a:r>
              <a:rPr lang="hu-HU" dirty="0" err="1"/>
              <a:t>reflection</a:t>
            </a:r>
            <a:r>
              <a:rPr lang="hu-HU" dirty="0"/>
              <a:t>)</a:t>
            </a:r>
          </a:p>
          <a:p>
            <a:r>
              <a:rPr lang="hu-HU" dirty="0"/>
              <a:t>Újra kilép → megint megtörik</a:t>
            </a:r>
          </a:p>
          <a:p>
            <a:r>
              <a:rPr lang="hu-HU" dirty="0"/>
              <a:t>Közben a különböző színek külön szögben törnek</a:t>
            </a:r>
          </a:p>
        </p:txBody>
      </p:sp>
    </p:spTree>
    <p:extLst>
      <p:ext uri="{BB962C8B-B14F-4D97-AF65-F5344CB8AC3E}">
        <p14:creationId xmlns:p14="http://schemas.microsoft.com/office/powerpoint/2010/main" val="27009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DB9A1E2-1280-222F-DC13-87B9171CE7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969" y="669131"/>
            <a:ext cx="7544061" cy="551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25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2E6CB8-DB0B-2007-91CF-0C9EFCC2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12. Feladat – </a:t>
            </a:r>
            <a:r>
              <a:rPr lang="hu-HU" dirty="0" err="1"/>
              <a:t>Raytrace</a:t>
            </a:r>
            <a:r>
              <a:rPr lang="hu-HU" dirty="0"/>
              <a:t> The </a:t>
            </a:r>
            <a:r>
              <a:rPr lang="hu-HU" dirty="0" err="1"/>
              <a:t>Rainbow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0E2862-D895-FF16-B6FF-57F3AD308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sugarakat indít</a:t>
            </a:r>
          </a:p>
          <a:p>
            <a:r>
              <a:rPr lang="hu-HU" dirty="0"/>
              <a:t>kiszámolja az ütközést a gömbbel</a:t>
            </a:r>
          </a:p>
          <a:p>
            <a:r>
              <a:rPr lang="hu-HU" dirty="0"/>
              <a:t>kiszámolja a törést/visszaverődést</a:t>
            </a:r>
          </a:p>
          <a:p>
            <a:r>
              <a:rPr lang="hu-HU" dirty="0"/>
              <a:t>követi a sugarat</a:t>
            </a:r>
          </a:p>
          <a:p>
            <a:r>
              <a:rPr lang="hu-HU" dirty="0"/>
              <a:t>megnézi hol landol egy virtuális képernyőn</a:t>
            </a:r>
          </a:p>
        </p:txBody>
      </p:sp>
    </p:spTree>
    <p:extLst>
      <p:ext uri="{BB962C8B-B14F-4D97-AF65-F5344CB8AC3E}">
        <p14:creationId xmlns:p14="http://schemas.microsoft.com/office/powerpoint/2010/main" val="3666863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333</Words>
  <Application>Microsoft Office PowerPoint</Application>
  <PresentationFormat>Szélesvásznú</PresentationFormat>
  <Paragraphs>57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Office-téma</vt:lpstr>
      <vt:lpstr>Cigányok</vt:lpstr>
      <vt:lpstr>Kiválasztott Feladatok</vt:lpstr>
      <vt:lpstr>14. Feladat – Linear Congruential Generator</vt:lpstr>
      <vt:lpstr>14. Feladat – XORshift Generator</vt:lpstr>
      <vt:lpstr>14. Feladat – Mersenne Twister (opc)</vt:lpstr>
      <vt:lpstr>14. Feladat – Khi-Négyzet Próba</vt:lpstr>
      <vt:lpstr>14. Feladat – Bónusz pontok</vt:lpstr>
      <vt:lpstr>12. Feladat – Raytrace The Rainbow</vt:lpstr>
      <vt:lpstr>PowerPoint-bemutató</vt:lpstr>
      <vt:lpstr>12. Feladat – Raytrace The Rainbow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Cigányok</dc:title>
  <dc:creator>Gergő Márton</dc:creator>
  <cp:lastModifiedBy>Gergő Márton</cp:lastModifiedBy>
  <cp:revision>3</cp:revision>
  <dcterms:created xsi:type="dcterms:W3CDTF">2026-03-11T20:27:10Z</dcterms:created>
  <dcterms:modified xsi:type="dcterms:W3CDTF">2026-03-12T16:45:57Z</dcterms:modified>
</cp:coreProperties>
</file>