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8536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7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3927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43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822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4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1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330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BCC0EC-6B5D-2931-C6B4-E347B7C25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l"/>
            <a:r>
              <a:rPr lang="hu-HU" sz="6000" dirty="0"/>
              <a:t>Design </a:t>
            </a:r>
            <a:r>
              <a:rPr lang="hu-HU" sz="6000" dirty="0" err="1"/>
              <a:t>Plans</a:t>
            </a:r>
            <a:r>
              <a:rPr lang="hu-HU" sz="6000" dirty="0"/>
              <a:t> </a:t>
            </a:r>
            <a:r>
              <a:rPr lang="hu-HU" sz="6000" dirty="0" err="1"/>
              <a:t>for</a:t>
            </a:r>
            <a:r>
              <a:rPr lang="hu-HU" sz="6000" dirty="0"/>
              <a:t> </a:t>
            </a:r>
            <a:r>
              <a:rPr lang="hu-HU" sz="6000" dirty="0" err="1"/>
              <a:t>Assignment</a:t>
            </a:r>
            <a:r>
              <a:rPr lang="hu-HU" sz="6000" dirty="0"/>
              <a:t> 14</a:t>
            </a:r>
            <a:endParaRPr lang="en-US" sz="6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40A604-BF02-EFE0-4E80-9D2198015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 algn="l"/>
            <a:r>
              <a:rPr lang="hu-HU" dirty="0" err="1">
                <a:solidFill>
                  <a:schemeClr val="tx1"/>
                </a:solidFill>
              </a:rPr>
              <a:t>Leszkovszky</a:t>
            </a:r>
            <a:r>
              <a:rPr lang="hu-HU" dirty="0">
                <a:solidFill>
                  <a:schemeClr val="tx1"/>
                </a:solidFill>
              </a:rPr>
              <a:t> Alexandra, </a:t>
            </a:r>
            <a:r>
              <a:rPr lang="hu-HU" dirty="0" err="1">
                <a:solidFill>
                  <a:schemeClr val="tx1"/>
                </a:solidFill>
              </a:rPr>
              <a:t>Kaselyák</a:t>
            </a:r>
            <a:r>
              <a:rPr lang="hu-HU" dirty="0">
                <a:solidFill>
                  <a:schemeClr val="tx1"/>
                </a:solidFill>
              </a:rPr>
              <a:t> Péter, Márton Gergő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3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Feladat – </a:t>
            </a:r>
            <a:r>
              <a:rPr lang="hu-HU" dirty="0" err="1"/>
              <a:t>Linear</a:t>
            </a:r>
            <a:r>
              <a:rPr lang="hu-HU" dirty="0"/>
              <a:t> </a:t>
            </a:r>
            <a:r>
              <a:rPr lang="hu-HU" dirty="0" err="1"/>
              <a:t>Congruential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hu-HU" sz="2400" dirty="0"/>
                  <a:t>Számok kiszámítása: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u-H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hu-HU" sz="2400" dirty="0"/>
              </a:p>
              <a:p>
                <a:pPr>
                  <a:lnSpc>
                    <a:spcPct val="110000"/>
                  </a:lnSpc>
                </a:pPr>
                <a:r>
                  <a:rPr lang="hu-HU" sz="2400" dirty="0"/>
                  <a:t>Ahol a következőket jelentik a szimbólumok: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a: szorzó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c: inkrementum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m: modulus, általában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hu-HU" sz="2000" dirty="0"/>
                  <a:t> vagy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endParaRPr lang="hu-HU" sz="200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u-HU" sz="2000" dirty="0"/>
                  <a:t>: a mostani random szám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hu-HU" sz="2000" dirty="0"/>
                  <a:t>: a következő random szám</a:t>
                </a:r>
                <a:endParaRPr lang="hu-HU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850" b="-2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60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Feladat – </a:t>
            </a:r>
            <a:r>
              <a:rPr lang="hu-HU" dirty="0" err="1"/>
              <a:t>XORshift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F7EB23-E71A-5CDA-584F-D1DAA6C2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Biteken értelmezett XOR és tolás műveleteket alkalmaz a randomok előállításához</a:t>
            </a:r>
          </a:p>
          <a:p>
            <a:r>
              <a:rPr lang="hu-HU" sz="2400" dirty="0"/>
              <a:t>Mintaprogram (32 bites):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3668283-8433-0EB9-6607-82D29F151EDF}"/>
              </a:ext>
            </a:extLst>
          </p:cNvPr>
          <p:cNvSpPr txBox="1"/>
          <p:nvPr/>
        </p:nvSpPr>
        <p:spPr>
          <a:xfrm>
            <a:off x="3891352" y="3673376"/>
            <a:ext cx="6929048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dirty="0"/>
              <a:t>uint32_t xorshift32(uint32_t *state) {</a:t>
            </a:r>
          </a:p>
          <a:p>
            <a:pPr marL="0" indent="0">
              <a:buNone/>
            </a:pPr>
            <a:r>
              <a:rPr lang="en-US" sz="1800" dirty="0"/>
              <a:t>    uint32_t x = *state;</a:t>
            </a:r>
          </a:p>
          <a:p>
            <a:pPr marL="0" indent="0">
              <a:buNone/>
            </a:pPr>
            <a:r>
              <a:rPr lang="en-US" sz="1800" dirty="0"/>
              <a:t>    x ^= x &lt;&lt; 13;</a:t>
            </a:r>
          </a:p>
          <a:p>
            <a:pPr marL="0" indent="0">
              <a:buNone/>
            </a:pPr>
            <a:r>
              <a:rPr lang="en-US" sz="1800" dirty="0"/>
              <a:t>    x ^= x &gt;&gt; 17;</a:t>
            </a:r>
          </a:p>
          <a:p>
            <a:pPr marL="0" indent="0">
              <a:buNone/>
            </a:pPr>
            <a:r>
              <a:rPr lang="en-US" sz="1800" dirty="0"/>
              <a:t>    x ^= x &lt;&lt; 5;</a:t>
            </a:r>
          </a:p>
          <a:p>
            <a:pPr marL="0" indent="0">
              <a:buNone/>
            </a:pPr>
            <a:r>
              <a:rPr lang="en-US" sz="1800" dirty="0"/>
              <a:t>    *state = x;</a:t>
            </a:r>
          </a:p>
          <a:p>
            <a:pPr marL="0" indent="0">
              <a:buNone/>
            </a:pPr>
            <a:r>
              <a:rPr lang="en-US" sz="1800" dirty="0"/>
              <a:t>    return x;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736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/>
              <a:t>14. Feladat – Mersenne Twister (</a:t>
            </a:r>
            <a:r>
              <a:rPr lang="hu-HU" i="1"/>
              <a:t>opc</a:t>
            </a:r>
            <a:r>
              <a:rPr lang="hu-HU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r>
                  <a:rPr lang="hu-HU" sz="2400" dirty="0"/>
                  <a:t>Két lépésben generálja a számokat:</a:t>
                </a:r>
              </a:p>
              <a:p>
                <a:pPr lvl="1"/>
                <a:r>
                  <a:rPr lang="hu-HU" sz="2000" dirty="0"/>
                  <a:t>Egy nagy elemszámú tömböt generál ismétlődő elemekkel</a:t>
                </a:r>
              </a:p>
              <a:p>
                <a:pPr lvl="1"/>
                <a:r>
                  <a:rPr lang="hu-HU" sz="2000" dirty="0" err="1"/>
                  <a:t>Randomság</a:t>
                </a:r>
                <a:r>
                  <a:rPr lang="hu-HU" sz="2000" dirty="0"/>
                  <a:t> elősegítése érdekében az értékek megvariálása</a:t>
                </a:r>
              </a:p>
              <a:p>
                <a:pPr marL="457200" lvl="1" indent="0">
                  <a:buNone/>
                </a:pPr>
                <a:endParaRPr lang="hu-HU" sz="2000" dirty="0"/>
              </a:p>
              <a:p>
                <a:r>
                  <a:rPr lang="hu-HU" sz="2400" dirty="0"/>
                  <a:t>Nagy periódusa van, aminek mérete egy </a:t>
                </a:r>
                <a:r>
                  <a:rPr lang="hu-HU" sz="2400" dirty="0" err="1"/>
                  <a:t>Mersenne</a:t>
                </a:r>
                <a:r>
                  <a:rPr lang="hu-HU" sz="2400" dirty="0"/>
                  <a:t> prím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hu-HU" sz="2400" dirty="0"/>
                  <a:t>)</a:t>
                </a:r>
              </a:p>
              <a:p>
                <a:pPr lvl="1"/>
                <a:r>
                  <a:rPr lang="hu-HU" sz="2000" dirty="0"/>
                  <a:t>Emiatt a nagy periodicitás miatt belátható időn belül nem kerül újra generálásra ugyanaz a minta</a:t>
                </a:r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89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Feladat – Khi-Négyzet Próba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hu-HU" sz="2400" dirty="0"/>
                  <a:t>Ellenőrzi, hogy a kapott frekvenciák egyeznek-e az elvártakkal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A számok egyenletesen vannak-e elosztva a különböző intervallumok között</a:t>
                </a:r>
              </a:p>
              <a:p>
                <a:pPr>
                  <a:lnSpc>
                    <a:spcPct val="110000"/>
                  </a:lnSpc>
                </a:pPr>
                <a:r>
                  <a:rPr lang="hu-HU" sz="2400" dirty="0"/>
                  <a:t>Matematikai alap: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type m:val="lin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hu-HU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hu-HU" sz="2400" dirty="0"/>
                  <a:t>Ahol: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000" dirty="0"/>
                  <a:t> = Kapott frekvencia az i. intervallumban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000" dirty="0"/>
                  <a:t> = Elvárt frekvencia az i. intervallumban</a:t>
                </a:r>
              </a:p>
              <a:p>
                <a:pPr>
                  <a:lnSpc>
                    <a:spcPct val="110000"/>
                  </a:lnSpc>
                </a:pPr>
                <a:r>
                  <a:rPr lang="hu-HU" sz="2000" dirty="0"/>
                  <a:t>Összesítjük az összes (k) intervallumra</a:t>
                </a: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3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AB37B7-0576-B3D4-BA67-F9A0C701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Feladat – Bónusz pontok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74C4FA-9135-9761-2048-51BA62D5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hu-HU" sz="2400" dirty="0"/>
              <a:t>Lokális memória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hu-HU" sz="2400" dirty="0" err="1"/>
              <a:t>Workgroup</a:t>
            </a:r>
            <a:r>
              <a:rPr lang="hu-HU" sz="2400" dirty="0"/>
              <a:t>-ok </a:t>
            </a:r>
          </a:p>
          <a:p>
            <a:pPr>
              <a:lnSpc>
                <a:spcPct val="110000"/>
              </a:lnSpc>
            </a:pPr>
            <a:r>
              <a:rPr lang="hu-HU" sz="2400" dirty="0"/>
              <a:t>Profiling</a:t>
            </a:r>
          </a:p>
          <a:p>
            <a:pPr>
              <a:lnSpc>
                <a:spcPct val="110000"/>
              </a:lnSpc>
            </a:pPr>
            <a:r>
              <a:rPr lang="hu-HU" sz="2400" dirty="0"/>
              <a:t>Tesztelés</a:t>
            </a:r>
          </a:p>
          <a:p>
            <a:pPr lvl="1">
              <a:lnSpc>
                <a:spcPct val="110000"/>
              </a:lnSpc>
            </a:pPr>
            <a:r>
              <a:rPr lang="hu-HU" sz="2000" dirty="0" err="1"/>
              <a:t>Kolmogorov-Smirnov</a:t>
            </a:r>
            <a:r>
              <a:rPr lang="hu-HU" sz="2000" dirty="0"/>
              <a:t> / </a:t>
            </a:r>
            <a:r>
              <a:rPr lang="hu-HU" sz="2000" dirty="0" err="1"/>
              <a:t>Autocorrection</a:t>
            </a:r>
            <a:endParaRPr lang="hu-HU" sz="2000" dirty="0"/>
          </a:p>
          <a:p>
            <a:pPr>
              <a:lnSpc>
                <a:spcPct val="110000"/>
              </a:lnSpc>
            </a:pPr>
            <a:r>
              <a:rPr lang="hu-HU" sz="2400" dirty="0"/>
              <a:t>Monte Carlo szimuláció</a:t>
            </a:r>
          </a:p>
          <a:p>
            <a:pPr lvl="1">
              <a:lnSpc>
                <a:spcPct val="110000"/>
              </a:lnSpc>
            </a:pPr>
            <a:r>
              <a:rPr lang="el-GR" sz="2000" dirty="0"/>
              <a:t>π</a:t>
            </a:r>
            <a:r>
              <a:rPr lang="hu-HU" sz="2000" dirty="0"/>
              <a:t> becslés</a:t>
            </a:r>
          </a:p>
          <a:p>
            <a:pPr lvl="1">
              <a:lnSpc>
                <a:spcPct val="110000"/>
              </a:lnSpc>
            </a:pPr>
            <a:r>
              <a:rPr lang="hu-HU" sz="2000" dirty="0"/>
              <a:t>Pénzügyi szimuláció (</a:t>
            </a:r>
            <a:r>
              <a:rPr lang="hu-HU" sz="2000" i="1" dirty="0" err="1"/>
              <a:t>Option</a:t>
            </a:r>
            <a:r>
              <a:rPr lang="hu-HU" sz="2000" i="1" dirty="0"/>
              <a:t> </a:t>
            </a:r>
            <a:r>
              <a:rPr lang="hu-HU" sz="2000" i="1" dirty="0" err="1"/>
              <a:t>Pricing</a:t>
            </a:r>
            <a:r>
              <a:rPr lang="hu-HU" sz="2000" i="1" dirty="0"/>
              <a:t>, </a:t>
            </a:r>
            <a:r>
              <a:rPr lang="hu-HU" sz="2000" i="1" dirty="0" err="1"/>
              <a:t>VaR</a:t>
            </a:r>
            <a:r>
              <a:rPr lang="hu-HU" sz="2000" dirty="0"/>
              <a:t>)</a:t>
            </a:r>
            <a:endParaRPr lang="hu-HU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63407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AB37B7-0576-B3D4-BA67-F9A0C701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Feladat – Monte Carlo (</a:t>
            </a:r>
            <a:r>
              <a:rPr lang="el-GR" dirty="0"/>
              <a:t>π</a:t>
            </a:r>
            <a:r>
              <a:rPr lang="hu-HU" dirty="0"/>
              <a:t> becslés)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74C4FA-9135-9761-2048-51BA62D5B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 fontScale="85000" lnSpcReduction="10000"/>
              </a:bodyPr>
              <a:lstStyle/>
              <a:p>
                <a:r>
                  <a:rPr lang="hu-HU" sz="2400" dirty="0"/>
                  <a:t>Egy 2D-s négyzetet és körlapot használ</a:t>
                </a:r>
              </a:p>
              <a:p>
                <a:r>
                  <a:rPr lang="hu-HU" sz="2400" dirty="0"/>
                  <a:t>Mindkét alakzat középpontja az origó</a:t>
                </a:r>
              </a:p>
              <a:p>
                <a:r>
                  <a:rPr lang="hu-HU" sz="2400" dirty="0"/>
                  <a:t>Alakzatok tulajdonságai:</a:t>
                </a:r>
              </a:p>
              <a:p>
                <a:pPr lvl="1"/>
                <a:r>
                  <a:rPr lang="hu-HU" sz="2000" dirty="0" err="1"/>
                  <a:t>Négyzet</a:t>
                </a:r>
                <a:r>
                  <a:rPr lang="hu-HU" sz="2000" baseline="-25000" dirty="0" err="1"/>
                  <a:t>d</a:t>
                </a:r>
                <a:r>
                  <a:rPr lang="hu-HU" sz="2000" baseline="-25000" dirty="0"/>
                  <a:t>=2</a:t>
                </a:r>
                <a:r>
                  <a:rPr lang="hu-HU" sz="20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=2 ∗2=4</m:t>
                    </m:r>
                  </m:oMath>
                </a14:m>
                <a:endParaRPr lang="hu-HU" sz="2000" dirty="0"/>
              </a:p>
              <a:p>
                <a:pPr lvl="1"/>
                <a:r>
                  <a:rPr lang="hu-HU" sz="2000" dirty="0" err="1"/>
                  <a:t>Körlap</a:t>
                </a:r>
                <a:r>
                  <a:rPr lang="hu-HU" sz="2000" baseline="-25000" dirty="0" err="1"/>
                  <a:t>r</a:t>
                </a:r>
                <a:r>
                  <a:rPr lang="hu-HU" sz="2000" baseline="-25000" dirty="0"/>
                  <a:t>=1 </a:t>
                </a:r>
                <a:r>
                  <a:rPr lang="hu-HU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hu-HU" sz="2000" b="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sz="2000" b="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hu-HU" sz="2000" b="0" i="1">
                        <a:latin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hu-HU" sz="2000" b="0" i="1">
                        <a:latin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hu-HU" sz="2000" dirty="0"/>
              </a:p>
              <a:p>
                <a:r>
                  <a:rPr lang="hu-HU" sz="2400" dirty="0"/>
                  <a:t>Működés:</a:t>
                </a:r>
              </a:p>
              <a:p>
                <a:pPr lvl="1"/>
                <a:r>
                  <a:rPr lang="hu-HU" sz="2000" dirty="0"/>
                  <a:t>Random pontok generálása a négyzeten belül</a:t>
                </a:r>
              </a:p>
              <a:p>
                <a:pPr lvl="1"/>
                <a:r>
                  <a:rPr lang="hu-HU" sz="2000" dirty="0"/>
                  <a:t>A körön belüli pontok a körön kívüli pontokhoz vett arányának a négyszerese egyenlő lesz </a:t>
                </a:r>
                <a:r>
                  <a:rPr lang="el-GR" sz="2000" dirty="0"/>
                  <a:t>π</a:t>
                </a:r>
                <a:r>
                  <a:rPr lang="hu-HU" sz="2000" dirty="0"/>
                  <a:t>-vel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ö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ö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𝑏𝑒𝑙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ü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𝑙𝑖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𝑝𝑜𝑛𝑡𝑜𝑘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ö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ö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í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ü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𝑙𝑖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𝑝𝑜𝑛𝑡𝑜𝑘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u-HU" sz="2000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74C4FA-9135-9761-2048-51BA62D5B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2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443377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Körülvágá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Körülvágás</Template>
  <TotalTime>225</TotalTime>
  <Words>351</Words>
  <Application>Microsoft Office PowerPoint</Application>
  <PresentationFormat>Szélesvásznú</PresentationFormat>
  <Paragraphs>57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Cambria Math</vt:lpstr>
      <vt:lpstr>Franklin Gothic Book</vt:lpstr>
      <vt:lpstr>Körülvágás</vt:lpstr>
      <vt:lpstr>Design Plans for Assignment 14</vt:lpstr>
      <vt:lpstr>14. Feladat – Linear Congruential Generator</vt:lpstr>
      <vt:lpstr>14. Feladat – XORshift Generator</vt:lpstr>
      <vt:lpstr>14. Feladat – Mersenne Twister (opc)</vt:lpstr>
      <vt:lpstr>14. Feladat – Khi-Négyzet Próba</vt:lpstr>
      <vt:lpstr>14. Feladat – Bónusz pontok</vt:lpstr>
      <vt:lpstr>14. Feladat – Monte Carlo (π becslés)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Cigányok</dc:title>
  <dc:creator>Gergő Márton</dc:creator>
  <cp:lastModifiedBy>Gergő Márton</cp:lastModifiedBy>
  <cp:revision>6</cp:revision>
  <dcterms:created xsi:type="dcterms:W3CDTF">2026-03-11T20:27:10Z</dcterms:created>
  <dcterms:modified xsi:type="dcterms:W3CDTF">2026-03-19T16:22:24Z</dcterms:modified>
</cp:coreProperties>
</file>