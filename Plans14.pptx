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8" r:id="rId3"/>
    <p:sldId id="260" r:id="rId4"/>
    <p:sldId id="261" r:id="rId5"/>
    <p:sldId id="262" r:id="rId6"/>
    <p:sldId id="263" r:id="rId7"/>
    <p:sldId id="266" r:id="rId8"/>
    <p:sldId id="26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385364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873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9839274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048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43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8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743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58223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74842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527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914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0D0D2551-2020-46B6-9FCF-E4ABF065C08E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29A7C6AC-59B2-4505-A03A-3EC2A445D26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823307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BCC0EC-6B5D-2931-C6B4-E347B7C259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/>
          </a:bodyPr>
          <a:lstStyle/>
          <a:p>
            <a:pPr algn="l"/>
            <a:r>
              <a:rPr lang="hu-HU" sz="6000" dirty="0"/>
              <a:t>Design </a:t>
            </a:r>
            <a:r>
              <a:rPr lang="hu-HU" sz="6000" dirty="0" err="1"/>
              <a:t>Plans</a:t>
            </a:r>
            <a:r>
              <a:rPr lang="hu-HU" sz="6000" dirty="0"/>
              <a:t> </a:t>
            </a:r>
            <a:r>
              <a:rPr lang="hu-HU" sz="6000" dirty="0" err="1"/>
              <a:t>for</a:t>
            </a:r>
            <a:r>
              <a:rPr lang="hu-HU" sz="6000" dirty="0"/>
              <a:t> </a:t>
            </a:r>
            <a:r>
              <a:rPr lang="hu-HU" sz="6000" dirty="0" err="1"/>
              <a:t>Assignment</a:t>
            </a:r>
            <a:r>
              <a:rPr lang="hu-HU" sz="6000" dirty="0"/>
              <a:t> 14</a:t>
            </a:r>
            <a:endParaRPr lang="en-US" sz="600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F40A604-BF02-EFE0-4E80-9D21980152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pPr algn="l"/>
            <a:r>
              <a:rPr lang="hu-HU" dirty="0" err="1">
                <a:solidFill>
                  <a:schemeClr val="tx1"/>
                </a:solidFill>
              </a:rPr>
              <a:t>Leszkovszky</a:t>
            </a:r>
            <a:r>
              <a:rPr lang="hu-HU" dirty="0">
                <a:solidFill>
                  <a:schemeClr val="tx1"/>
                </a:solidFill>
              </a:rPr>
              <a:t> Alexandra, </a:t>
            </a:r>
            <a:r>
              <a:rPr lang="hu-HU" dirty="0" err="1">
                <a:solidFill>
                  <a:schemeClr val="tx1"/>
                </a:solidFill>
              </a:rPr>
              <a:t>Kaselyák</a:t>
            </a:r>
            <a:r>
              <a:rPr lang="hu-HU" dirty="0">
                <a:solidFill>
                  <a:schemeClr val="tx1"/>
                </a:solidFill>
              </a:rPr>
              <a:t> Péter, Márton Gergő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3931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9948C5-6014-E438-EDAC-AC1558A0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14. </a:t>
            </a:r>
            <a:r>
              <a:rPr lang="hu-HU" dirty="0" err="1"/>
              <a:t>Linear</a:t>
            </a:r>
            <a:r>
              <a:rPr lang="hu-HU" dirty="0"/>
              <a:t> </a:t>
            </a:r>
            <a:r>
              <a:rPr lang="hu-HU" dirty="0" err="1"/>
              <a:t>Congruential</a:t>
            </a:r>
            <a:r>
              <a:rPr lang="hu-HU" dirty="0"/>
              <a:t> </a:t>
            </a:r>
            <a:r>
              <a:rPr lang="hu-HU" dirty="0" err="1"/>
              <a:t>Generator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artalom helye 2">
                <a:extLst>
                  <a:ext uri="{FF2B5EF4-FFF2-40B4-BE49-F238E27FC236}">
                    <a16:creationId xmlns:a16="http://schemas.microsoft.com/office/drawing/2014/main" id="{F5F7EB23-E71A-5CDA-584F-D1DAA6C278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ctr"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hu-HU" sz="2400" dirty="0" err="1"/>
                  <a:t>Calculation</a:t>
                </a:r>
                <a:r>
                  <a:rPr lang="hu-HU" sz="2400" dirty="0"/>
                  <a:t> formula: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hu-HU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 ∗ </m:t>
                          </m:r>
                          <m:sSub>
                            <m:sSubPr>
                              <m:ctrlPr>
                                <a:rPr lang="hu-HU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u-HU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u-HU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hu-HU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u-HU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hu-HU" sz="2400" dirty="0"/>
              </a:p>
              <a:p>
                <a:pPr>
                  <a:lnSpc>
                    <a:spcPct val="110000"/>
                  </a:lnSpc>
                </a:pPr>
                <a:r>
                  <a:rPr lang="hu-HU" sz="2400" dirty="0" err="1"/>
                  <a:t>Where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the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symbols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are</a:t>
                </a:r>
                <a:r>
                  <a:rPr lang="hu-HU" sz="2400" dirty="0"/>
                  <a:t>: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hu-HU" sz="2000" dirty="0"/>
                  <a:t>a: </a:t>
                </a:r>
                <a:r>
                  <a:rPr lang="hu-HU" sz="2000" dirty="0" err="1"/>
                  <a:t>mutliplier</a:t>
                </a:r>
                <a:endParaRPr lang="hu-HU" sz="2000" dirty="0"/>
              </a:p>
              <a:p>
                <a:pPr lvl="1">
                  <a:lnSpc>
                    <a:spcPct val="110000"/>
                  </a:lnSpc>
                </a:pPr>
                <a:r>
                  <a:rPr lang="hu-HU" sz="2000" dirty="0"/>
                  <a:t>c: </a:t>
                </a:r>
                <a:r>
                  <a:rPr lang="hu-HU" sz="2000" dirty="0" err="1"/>
                  <a:t>increment</a:t>
                </a:r>
                <a:endParaRPr lang="hu-HU" sz="2000" dirty="0"/>
              </a:p>
              <a:p>
                <a:pPr lvl="1">
                  <a:lnSpc>
                    <a:spcPct val="110000"/>
                  </a:lnSpc>
                </a:pPr>
                <a:r>
                  <a:rPr lang="hu-HU" sz="2000" dirty="0"/>
                  <a:t>m: </a:t>
                </a:r>
                <a:r>
                  <a:rPr lang="hu-HU" sz="2000" dirty="0" err="1"/>
                  <a:t>modulo</a:t>
                </a:r>
                <a:r>
                  <a:rPr lang="hu-HU" sz="2000" dirty="0"/>
                  <a:t>, </a:t>
                </a:r>
                <a:r>
                  <a:rPr lang="hu-HU" sz="2000" dirty="0" err="1"/>
                  <a:t>usually</a:t>
                </a:r>
                <a:r>
                  <a:rPr lang="hu-HU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hu-HU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sup>
                    </m:sSup>
                  </m:oMath>
                </a14:m>
                <a:r>
                  <a:rPr lang="hu-HU" sz="2000" dirty="0"/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hu-HU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64</m:t>
                        </m:r>
                      </m:sup>
                    </m:sSup>
                  </m:oMath>
                </a14:m>
                <a:endParaRPr lang="hu-HU" sz="2000" dirty="0"/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hu-HU" sz="2000" dirty="0"/>
                  <a:t>: </a:t>
                </a:r>
                <a:r>
                  <a:rPr lang="hu-HU" sz="2000" dirty="0" err="1"/>
                  <a:t>current</a:t>
                </a:r>
                <a:r>
                  <a:rPr lang="hu-HU" sz="2000" dirty="0"/>
                  <a:t> random </a:t>
                </a:r>
                <a:r>
                  <a:rPr lang="hu-HU" sz="2000" dirty="0" err="1"/>
                  <a:t>number</a:t>
                </a:r>
                <a:endParaRPr lang="hu-HU" sz="2000" dirty="0"/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hu-HU" sz="2000" dirty="0"/>
                  <a:t>: </a:t>
                </a:r>
                <a:r>
                  <a:rPr lang="hu-HU" sz="2000" dirty="0" err="1"/>
                  <a:t>next</a:t>
                </a:r>
                <a:r>
                  <a:rPr lang="hu-HU" sz="2000" dirty="0"/>
                  <a:t> random </a:t>
                </a:r>
                <a:r>
                  <a:rPr lang="hu-HU" sz="2000" dirty="0" err="1"/>
                  <a:t>number</a:t>
                </a:r>
                <a:endParaRPr lang="hu-HU" dirty="0"/>
              </a:p>
            </p:txBody>
          </p:sp>
        </mc:Choice>
        <mc:Fallback>
          <p:sp>
            <p:nvSpPr>
              <p:cNvPr id="3" name="Tartalom helye 2">
                <a:extLst>
                  <a:ext uri="{FF2B5EF4-FFF2-40B4-BE49-F238E27FC236}">
                    <a16:creationId xmlns:a16="http://schemas.microsoft.com/office/drawing/2014/main" id="{F5F7EB23-E71A-5CDA-584F-D1DAA6C278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89" t="-850" b="-2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4609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9948C5-6014-E438-EDAC-AC1558A0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14. </a:t>
            </a:r>
            <a:r>
              <a:rPr lang="hu-HU" dirty="0" err="1"/>
              <a:t>XORshift</a:t>
            </a:r>
            <a:r>
              <a:rPr lang="hu-HU" dirty="0"/>
              <a:t> </a:t>
            </a:r>
            <a:r>
              <a:rPr lang="hu-HU" dirty="0" err="1"/>
              <a:t>Generator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5F7EB23-E71A-5CDA-584F-D1DAA6C278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400" dirty="0" err="1"/>
              <a:t>Applies</a:t>
            </a:r>
            <a:r>
              <a:rPr lang="hu-HU" sz="2400" dirty="0"/>
              <a:t> XOR and shift </a:t>
            </a:r>
            <a:r>
              <a:rPr lang="hu-HU" sz="2400" dirty="0" err="1"/>
              <a:t>operations</a:t>
            </a:r>
            <a:r>
              <a:rPr lang="hu-HU" sz="2400" dirty="0"/>
              <a:t> </a:t>
            </a:r>
            <a:r>
              <a:rPr lang="hu-HU" sz="2400" dirty="0" err="1"/>
              <a:t>at</a:t>
            </a:r>
            <a:r>
              <a:rPr lang="hu-HU" sz="2400" dirty="0"/>
              <a:t> </a:t>
            </a:r>
            <a:r>
              <a:rPr lang="hu-HU" sz="2400" dirty="0" err="1"/>
              <a:t>the</a:t>
            </a:r>
            <a:r>
              <a:rPr lang="hu-HU" sz="2400" dirty="0"/>
              <a:t> bit </a:t>
            </a:r>
            <a:r>
              <a:rPr lang="hu-HU" sz="2400" dirty="0" err="1"/>
              <a:t>level</a:t>
            </a:r>
            <a:r>
              <a:rPr lang="hu-HU" sz="2400" dirty="0"/>
              <a:t> </a:t>
            </a:r>
            <a:r>
              <a:rPr lang="hu-HU" sz="2400" dirty="0" err="1"/>
              <a:t>to</a:t>
            </a:r>
            <a:r>
              <a:rPr lang="hu-HU" sz="2400" dirty="0"/>
              <a:t> </a:t>
            </a:r>
            <a:r>
              <a:rPr lang="hu-HU" sz="2400" dirty="0" err="1"/>
              <a:t>generate</a:t>
            </a:r>
            <a:r>
              <a:rPr lang="hu-HU" sz="2400" dirty="0"/>
              <a:t> random </a:t>
            </a:r>
            <a:r>
              <a:rPr lang="hu-HU" sz="2400" dirty="0" err="1"/>
              <a:t>numbers</a:t>
            </a:r>
            <a:endParaRPr lang="hu-HU" sz="2400" dirty="0"/>
          </a:p>
          <a:p>
            <a:r>
              <a:rPr lang="hu-HU" sz="2400" dirty="0" err="1"/>
              <a:t>Example</a:t>
            </a:r>
            <a:r>
              <a:rPr lang="hu-HU" sz="2400" dirty="0"/>
              <a:t> program (32 bites):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3668283-8433-0EB9-6607-82D29F151EDF}"/>
              </a:ext>
            </a:extLst>
          </p:cNvPr>
          <p:cNvSpPr txBox="1"/>
          <p:nvPr/>
        </p:nvSpPr>
        <p:spPr>
          <a:xfrm>
            <a:off x="3891352" y="3673376"/>
            <a:ext cx="6929048" cy="230832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>
              <a:buNone/>
            </a:pPr>
            <a:r>
              <a:rPr lang="en-US" sz="1800" dirty="0"/>
              <a:t>uint32_t xorshift32(uint32_t *state) {</a:t>
            </a:r>
          </a:p>
          <a:p>
            <a:pPr marL="0" indent="0">
              <a:buNone/>
            </a:pPr>
            <a:r>
              <a:rPr lang="en-US" sz="1800" dirty="0"/>
              <a:t>    uint32_t x = *state;</a:t>
            </a:r>
          </a:p>
          <a:p>
            <a:pPr marL="0" indent="0">
              <a:buNone/>
            </a:pPr>
            <a:r>
              <a:rPr lang="en-US" sz="1800" dirty="0"/>
              <a:t>    x ^= x &lt;&lt; 13;</a:t>
            </a:r>
          </a:p>
          <a:p>
            <a:pPr marL="0" indent="0">
              <a:buNone/>
            </a:pPr>
            <a:r>
              <a:rPr lang="en-US" sz="1800" dirty="0"/>
              <a:t>    x ^= x &gt;&gt; 17;</a:t>
            </a:r>
          </a:p>
          <a:p>
            <a:pPr marL="0" indent="0">
              <a:buNone/>
            </a:pPr>
            <a:r>
              <a:rPr lang="en-US" sz="1800" dirty="0"/>
              <a:t>    x ^= x &lt;&lt; 5;</a:t>
            </a:r>
          </a:p>
          <a:p>
            <a:pPr marL="0" indent="0">
              <a:buNone/>
            </a:pPr>
            <a:r>
              <a:rPr lang="en-US" sz="1800" dirty="0"/>
              <a:t>    *state = x;</a:t>
            </a:r>
          </a:p>
          <a:p>
            <a:pPr marL="0" indent="0">
              <a:buNone/>
            </a:pPr>
            <a:r>
              <a:rPr lang="en-US" sz="1800" dirty="0"/>
              <a:t>    return x;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7369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9948C5-6014-E438-EDAC-AC1558A0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14. </a:t>
            </a:r>
            <a:r>
              <a:rPr lang="hu-HU" dirty="0" err="1"/>
              <a:t>Mersenne</a:t>
            </a:r>
            <a:r>
              <a:rPr lang="hu-HU" dirty="0"/>
              <a:t> </a:t>
            </a:r>
            <a:r>
              <a:rPr lang="hu-HU" dirty="0" err="1"/>
              <a:t>Twister</a:t>
            </a:r>
            <a:r>
              <a:rPr lang="hu-HU" dirty="0"/>
              <a:t> (</a:t>
            </a:r>
            <a:r>
              <a:rPr lang="hu-HU" i="1" dirty="0" err="1"/>
              <a:t>opc</a:t>
            </a:r>
            <a:r>
              <a:rPr lang="hu-HU" dirty="0"/>
              <a:t>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artalom helye 2">
                <a:extLst>
                  <a:ext uri="{FF2B5EF4-FFF2-40B4-BE49-F238E27FC236}">
                    <a16:creationId xmlns:a16="http://schemas.microsoft.com/office/drawing/2014/main" id="{F5F7EB23-E71A-5CDA-584F-D1DAA6C278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ctr">
                <a:normAutofit/>
              </a:bodyPr>
              <a:lstStyle/>
              <a:p>
                <a:r>
                  <a:rPr lang="hu-HU" sz="2400" dirty="0" err="1"/>
                  <a:t>Generates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numbers</a:t>
                </a:r>
                <a:r>
                  <a:rPr lang="hu-HU" sz="2400" dirty="0"/>
                  <a:t> in </a:t>
                </a:r>
                <a:r>
                  <a:rPr lang="hu-HU" sz="2400" dirty="0" err="1"/>
                  <a:t>two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steps</a:t>
                </a:r>
                <a:r>
                  <a:rPr lang="hu-HU" sz="2400" dirty="0"/>
                  <a:t>:</a:t>
                </a:r>
              </a:p>
              <a:p>
                <a:pPr lvl="1"/>
                <a:r>
                  <a:rPr lang="hu-HU" sz="2000" dirty="0" err="1"/>
                  <a:t>Generates</a:t>
                </a:r>
                <a:r>
                  <a:rPr lang="hu-HU" sz="2000" dirty="0"/>
                  <a:t> a </a:t>
                </a:r>
                <a:r>
                  <a:rPr lang="hu-HU" sz="2000" dirty="0" err="1"/>
                  <a:t>large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array</a:t>
                </a:r>
                <a:r>
                  <a:rPr lang="hu-HU" sz="2000" dirty="0"/>
                  <a:t> of </a:t>
                </a:r>
                <a:r>
                  <a:rPr lang="hu-HU" sz="2000" dirty="0" err="1"/>
                  <a:t>state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values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using</a:t>
                </a:r>
                <a:r>
                  <a:rPr lang="hu-HU" sz="2000" dirty="0"/>
                  <a:t> a </a:t>
                </a:r>
                <a:r>
                  <a:rPr lang="hu-HU" sz="2000" dirty="0" err="1"/>
                  <a:t>recurrence</a:t>
                </a:r>
                <a:endParaRPr lang="hu-HU" sz="2000" dirty="0"/>
              </a:p>
              <a:p>
                <a:pPr lvl="1"/>
                <a:r>
                  <a:rPr lang="hu-HU" sz="2000" dirty="0" err="1"/>
                  <a:t>Tempers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values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to</a:t>
                </a:r>
                <a:r>
                  <a:rPr lang="hu-HU" sz="2000" dirty="0"/>
                  <a:t> </a:t>
                </a:r>
                <a:r>
                  <a:rPr lang="hu-HU" sz="2000" dirty="0" err="1"/>
                  <a:t>improve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randomness</a:t>
                </a:r>
                <a:endParaRPr lang="hu-HU" sz="2000" dirty="0"/>
              </a:p>
              <a:p>
                <a:pPr marL="457200" lvl="1" indent="0">
                  <a:buNone/>
                </a:pPr>
                <a:endParaRPr lang="hu-HU" sz="2000" dirty="0"/>
              </a:p>
              <a:p>
                <a:r>
                  <a:rPr lang="hu-HU" sz="2400" dirty="0" err="1"/>
                  <a:t>It</a:t>
                </a:r>
                <a:r>
                  <a:rPr lang="hu-HU" sz="2400" dirty="0"/>
                  <a:t> has a </a:t>
                </a:r>
                <a:r>
                  <a:rPr lang="hu-HU" sz="2400" dirty="0" err="1"/>
                  <a:t>long</a:t>
                </a:r>
                <a:r>
                  <a:rPr lang="hu-HU" sz="2400" dirty="0"/>
                  <a:t> </a:t>
                </a:r>
                <a:r>
                  <a:rPr lang="hu-HU" sz="2400" dirty="0" err="1"/>
                  <a:t>period</a:t>
                </a:r>
                <a:r>
                  <a:rPr lang="hu-HU" sz="2400" dirty="0"/>
                  <a:t>, </a:t>
                </a:r>
                <a:r>
                  <a:rPr lang="hu-HU" sz="2400" dirty="0" err="1"/>
                  <a:t>the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size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which</a:t>
                </a:r>
                <a:r>
                  <a:rPr lang="hu-HU" sz="2400" dirty="0"/>
                  <a:t> is a </a:t>
                </a:r>
                <a:r>
                  <a:rPr lang="hu-HU" sz="2400" dirty="0" err="1"/>
                  <a:t>Mersenne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prime</a:t>
                </a:r>
                <a:r>
                  <a:rPr lang="hu-HU" sz="24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hu-HU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hu-HU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hu-HU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hu-HU" sz="2400" dirty="0"/>
                  <a:t>)</a:t>
                </a:r>
              </a:p>
              <a:p>
                <a:pPr lvl="1"/>
                <a:r>
                  <a:rPr lang="hu-HU" sz="2000" dirty="0" err="1"/>
                  <a:t>Because</a:t>
                </a:r>
                <a:r>
                  <a:rPr lang="hu-HU" sz="2000" dirty="0"/>
                  <a:t> of </a:t>
                </a:r>
                <a:r>
                  <a:rPr lang="hu-HU" sz="2000" dirty="0" err="1"/>
                  <a:t>this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long</a:t>
                </a:r>
                <a:r>
                  <a:rPr lang="hu-HU" sz="2000" dirty="0"/>
                  <a:t> </a:t>
                </a:r>
                <a:r>
                  <a:rPr lang="hu-HU" sz="2000" dirty="0" err="1"/>
                  <a:t>period</a:t>
                </a:r>
                <a:r>
                  <a:rPr lang="hu-HU" sz="2000" dirty="0"/>
                  <a:t>,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same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pattern</a:t>
                </a:r>
                <a:r>
                  <a:rPr lang="hu-HU" sz="2000" dirty="0"/>
                  <a:t> </a:t>
                </a:r>
                <a:r>
                  <a:rPr lang="hu-HU" sz="2000" dirty="0" err="1"/>
                  <a:t>will</a:t>
                </a:r>
                <a:r>
                  <a:rPr lang="hu-HU" sz="2000" dirty="0"/>
                  <a:t> </a:t>
                </a:r>
                <a:r>
                  <a:rPr lang="hu-HU" sz="2000" dirty="0" err="1"/>
                  <a:t>not</a:t>
                </a:r>
                <a:r>
                  <a:rPr lang="hu-HU" sz="2000" dirty="0"/>
                  <a:t> be re-</a:t>
                </a:r>
                <a:r>
                  <a:rPr lang="hu-HU" sz="2000" dirty="0" err="1"/>
                  <a:t>generated</a:t>
                </a:r>
                <a:r>
                  <a:rPr lang="hu-HU" sz="2000" dirty="0"/>
                  <a:t> </a:t>
                </a:r>
                <a:r>
                  <a:rPr lang="hu-HU" sz="2000" dirty="0" err="1"/>
                  <a:t>within</a:t>
                </a:r>
                <a:r>
                  <a:rPr lang="hu-HU" sz="2000" dirty="0"/>
                  <a:t> a </a:t>
                </a:r>
                <a:r>
                  <a:rPr lang="hu-HU" sz="2000" dirty="0" err="1"/>
                  <a:t>foreseeable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amount</a:t>
                </a:r>
                <a:r>
                  <a:rPr lang="hu-HU" sz="2000" dirty="0"/>
                  <a:t> of </a:t>
                </a:r>
                <a:r>
                  <a:rPr lang="hu-HU" sz="2000" dirty="0" err="1"/>
                  <a:t>time</a:t>
                </a:r>
                <a:endParaRPr lang="en-US" sz="200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Tartalom helye 2">
                <a:extLst>
                  <a:ext uri="{FF2B5EF4-FFF2-40B4-BE49-F238E27FC236}">
                    <a16:creationId xmlns:a16="http://schemas.microsoft.com/office/drawing/2014/main" id="{F5F7EB23-E71A-5CDA-584F-D1DAA6C278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89" r="-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89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9948C5-6014-E438-EDAC-AC1558A0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14. </a:t>
            </a:r>
            <a:r>
              <a:rPr lang="hu-HU" dirty="0" err="1"/>
              <a:t>Chi-Square</a:t>
            </a:r>
            <a:r>
              <a:rPr lang="hu-HU" dirty="0"/>
              <a:t> Test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artalom helye 2">
                <a:extLst>
                  <a:ext uri="{FF2B5EF4-FFF2-40B4-BE49-F238E27FC236}">
                    <a16:creationId xmlns:a16="http://schemas.microsoft.com/office/drawing/2014/main" id="{F5F7EB23-E71A-5CDA-584F-D1DAA6C278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ctr">
                <a:normAutofit fontScale="850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hu-HU" sz="2400" dirty="0" err="1"/>
                  <a:t>Checks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whether</a:t>
                </a:r>
                <a:r>
                  <a:rPr lang="hu-HU" sz="2400" dirty="0"/>
                  <a:t> </a:t>
                </a:r>
                <a:r>
                  <a:rPr lang="hu-HU" sz="2400" dirty="0" err="1"/>
                  <a:t>the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observed</a:t>
                </a:r>
                <a:r>
                  <a:rPr lang="hu-HU" sz="2400" dirty="0"/>
                  <a:t> </a:t>
                </a:r>
                <a:r>
                  <a:rPr lang="hu-HU" sz="2400" dirty="0" err="1"/>
                  <a:t>frequencies</a:t>
                </a:r>
                <a:r>
                  <a:rPr lang="hu-HU" sz="2400" dirty="0"/>
                  <a:t> </a:t>
                </a:r>
                <a:r>
                  <a:rPr lang="hu-HU" sz="2400" dirty="0" err="1"/>
                  <a:t>match</a:t>
                </a:r>
                <a:r>
                  <a:rPr lang="hu-HU" sz="2400" dirty="0"/>
                  <a:t> </a:t>
                </a:r>
                <a:r>
                  <a:rPr lang="hu-HU" sz="2400" dirty="0" err="1"/>
                  <a:t>the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expected</a:t>
                </a:r>
                <a:r>
                  <a:rPr lang="hu-HU" sz="2400" dirty="0"/>
                  <a:t> </a:t>
                </a:r>
                <a:r>
                  <a:rPr lang="hu-HU" sz="2400" dirty="0" err="1"/>
                  <a:t>frequencies</a:t>
                </a:r>
                <a:endParaRPr lang="hu-HU" sz="2400" dirty="0"/>
              </a:p>
              <a:p>
                <a:pPr lvl="1">
                  <a:lnSpc>
                    <a:spcPct val="110000"/>
                  </a:lnSpc>
                </a:pPr>
                <a:r>
                  <a:rPr lang="hu-HU" sz="2000" dirty="0" err="1"/>
                  <a:t>Whether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numbers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are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evenly</a:t>
                </a:r>
                <a:r>
                  <a:rPr lang="hu-HU" sz="2000" dirty="0"/>
                  <a:t> </a:t>
                </a:r>
                <a:r>
                  <a:rPr lang="hu-HU" sz="2000" dirty="0" err="1"/>
                  <a:t>distributed</a:t>
                </a:r>
                <a:r>
                  <a:rPr lang="hu-HU" sz="2000" dirty="0"/>
                  <a:t> </a:t>
                </a:r>
                <a:r>
                  <a:rPr lang="hu-HU" sz="2000" dirty="0" err="1"/>
                  <a:t>across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different</a:t>
                </a:r>
                <a:r>
                  <a:rPr lang="hu-HU" sz="2000" dirty="0"/>
                  <a:t> </a:t>
                </a:r>
                <a:r>
                  <a:rPr lang="hu-HU" sz="2000" dirty="0" err="1"/>
                  <a:t>intervals</a:t>
                </a:r>
                <a:endParaRPr lang="hu-HU" sz="2000" dirty="0"/>
              </a:p>
              <a:p>
                <a:pPr>
                  <a:lnSpc>
                    <a:spcPct val="110000"/>
                  </a:lnSpc>
                </a:pPr>
                <a:r>
                  <a:rPr lang="hu-HU" sz="2400" dirty="0" err="1"/>
                  <a:t>Mathematical</a:t>
                </a:r>
                <a:r>
                  <a:rPr lang="hu-HU" sz="2400" dirty="0"/>
                  <a:t> </a:t>
                </a:r>
                <a:r>
                  <a:rPr lang="hu-HU" sz="2400" dirty="0" err="1"/>
                  <a:t>Basis</a:t>
                </a:r>
                <a:r>
                  <a:rPr lang="hu-HU" sz="2400" dirty="0"/>
                  <a:t>: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hu-HU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hu-HU" sz="20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hu-HU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hu-HU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hu-HU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type m:val="lin"/>
                              <m:ctrlP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hu-HU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hu-HU" sz="20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hu-HU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u-HU" sz="2000" b="0" i="1" smtClean="0">
                                          <a:latin typeface="Cambria Math" panose="02040503050406030204" pitchFamily="18" charset="0"/>
                                        </a:rPr>
                                        <m:t>𝑂</m:t>
                                      </m:r>
                                    </m:e>
                                    <m:sub>
                                      <m:r>
                                        <a:rPr lang="hu-HU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hu-HU" sz="2000" b="0" i="1" smtClean="0"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sSub>
                                    <m:sSubPr>
                                      <m:ctrlPr>
                                        <a:rPr lang="hu-HU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u-HU" sz="2000" b="0" i="1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hu-HU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hu-HU" sz="20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hu-HU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hu-HU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hu-HU" sz="2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hu-HU" sz="20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hu-HU" sz="20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hu-HU" sz="2400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hu-HU" sz="2400" dirty="0" err="1"/>
                  <a:t>Where</a:t>
                </a:r>
                <a:r>
                  <a:rPr lang="hu-HU" sz="2400" dirty="0"/>
                  <a:t>:</a:t>
                </a: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hu-HU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hu-HU" sz="2000" dirty="0"/>
                  <a:t> = </a:t>
                </a:r>
                <a:r>
                  <a:rPr lang="hu-HU" sz="2000" dirty="0" err="1"/>
                  <a:t>Observed</a:t>
                </a:r>
                <a:r>
                  <a:rPr lang="hu-HU" sz="2000" dirty="0"/>
                  <a:t> </a:t>
                </a:r>
                <a:r>
                  <a:rPr lang="hu-HU" sz="2000" dirty="0" err="1"/>
                  <a:t>frequency</a:t>
                </a:r>
                <a:r>
                  <a:rPr lang="hu-HU" sz="2000" dirty="0"/>
                  <a:t> in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i-</a:t>
                </a:r>
                <a:r>
                  <a:rPr lang="hu-HU" sz="2000" dirty="0" err="1"/>
                  <a:t>th</a:t>
                </a:r>
                <a:r>
                  <a:rPr lang="hu-HU" sz="2000" dirty="0"/>
                  <a:t> </a:t>
                </a:r>
                <a:r>
                  <a:rPr lang="hu-HU" sz="2000" dirty="0" err="1"/>
                  <a:t>interval</a:t>
                </a:r>
                <a:endParaRPr lang="hu-HU" sz="2000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hu-HU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hu-HU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hu-HU" sz="2000" dirty="0"/>
                  <a:t> = </a:t>
                </a:r>
                <a:r>
                  <a:rPr lang="hu-HU" sz="2000" dirty="0" err="1"/>
                  <a:t>Expected</a:t>
                </a:r>
                <a:r>
                  <a:rPr lang="hu-HU" sz="2000" dirty="0"/>
                  <a:t> </a:t>
                </a:r>
                <a:r>
                  <a:rPr lang="hu-HU" sz="2000" dirty="0" err="1"/>
                  <a:t>frequency</a:t>
                </a:r>
                <a:r>
                  <a:rPr lang="hu-HU" sz="2000" dirty="0"/>
                  <a:t> in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i-</a:t>
                </a:r>
                <a:r>
                  <a:rPr lang="hu-HU" sz="2000" dirty="0" err="1"/>
                  <a:t>th</a:t>
                </a:r>
                <a:r>
                  <a:rPr lang="hu-HU" sz="2000" dirty="0"/>
                  <a:t> </a:t>
                </a:r>
                <a:r>
                  <a:rPr lang="hu-HU" sz="2000" dirty="0" err="1"/>
                  <a:t>interval</a:t>
                </a:r>
                <a:endParaRPr lang="hu-HU" sz="2000" dirty="0"/>
              </a:p>
              <a:p>
                <a:pPr>
                  <a:lnSpc>
                    <a:spcPct val="110000"/>
                  </a:lnSpc>
                </a:pPr>
                <a:r>
                  <a:rPr lang="hu-HU" sz="2000" dirty="0"/>
                  <a:t>Sum </a:t>
                </a:r>
                <a:r>
                  <a:rPr lang="hu-HU" sz="2000" dirty="0" err="1"/>
                  <a:t>this</a:t>
                </a:r>
                <a:r>
                  <a:rPr lang="hu-HU" sz="2000" dirty="0"/>
                  <a:t> over </a:t>
                </a:r>
                <a:r>
                  <a:rPr lang="hu-HU" sz="2000" dirty="0" err="1"/>
                  <a:t>all</a:t>
                </a:r>
                <a:r>
                  <a:rPr lang="hu-HU" sz="2000" dirty="0"/>
                  <a:t> (k) </a:t>
                </a:r>
                <a:r>
                  <a:rPr lang="hu-HU" sz="2000" dirty="0" err="1"/>
                  <a:t>intervals</a:t>
                </a:r>
                <a:endParaRPr lang="hu-HU" sz="2000" dirty="0"/>
              </a:p>
            </p:txBody>
          </p:sp>
        </mc:Choice>
        <mc:Fallback>
          <p:sp>
            <p:nvSpPr>
              <p:cNvPr id="3" name="Tartalom helye 2">
                <a:extLst>
                  <a:ext uri="{FF2B5EF4-FFF2-40B4-BE49-F238E27FC236}">
                    <a16:creationId xmlns:a16="http://schemas.microsoft.com/office/drawing/2014/main" id="{F5F7EB23-E71A-5CDA-584F-D1DAA6C278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0032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AB37B7-0576-B3D4-BA67-F9A0C7011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14. Bonus </a:t>
            </a:r>
            <a:r>
              <a:rPr lang="hu-HU" dirty="0" err="1"/>
              <a:t>Points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A74C4FA-9135-9761-2048-51BA62D5B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hu-HU" sz="2400" dirty="0"/>
              <a:t>Local </a:t>
            </a:r>
            <a:r>
              <a:rPr lang="hu-HU" sz="2400" dirty="0" err="1"/>
              <a:t>Memory</a:t>
            </a:r>
            <a:endParaRPr lang="en-US" sz="2400" dirty="0"/>
          </a:p>
          <a:p>
            <a:pPr>
              <a:lnSpc>
                <a:spcPct val="110000"/>
              </a:lnSpc>
            </a:pPr>
            <a:r>
              <a:rPr lang="hu-HU" sz="2400" dirty="0"/>
              <a:t>Workgroups </a:t>
            </a:r>
          </a:p>
          <a:p>
            <a:pPr>
              <a:lnSpc>
                <a:spcPct val="110000"/>
              </a:lnSpc>
            </a:pPr>
            <a:r>
              <a:rPr lang="hu-HU" sz="2400" dirty="0"/>
              <a:t>Profiling</a:t>
            </a:r>
          </a:p>
          <a:p>
            <a:pPr>
              <a:lnSpc>
                <a:spcPct val="110000"/>
              </a:lnSpc>
            </a:pPr>
            <a:r>
              <a:rPr lang="hu-HU" sz="2400" dirty="0"/>
              <a:t>Testing (+1)</a:t>
            </a:r>
          </a:p>
          <a:p>
            <a:pPr lvl="1">
              <a:lnSpc>
                <a:spcPct val="110000"/>
              </a:lnSpc>
            </a:pPr>
            <a:r>
              <a:rPr lang="hu-HU" sz="2000" dirty="0" err="1"/>
              <a:t>Kolmogorov-Smirnov</a:t>
            </a:r>
            <a:r>
              <a:rPr lang="hu-HU" sz="2000" dirty="0"/>
              <a:t> / </a:t>
            </a:r>
            <a:r>
              <a:rPr lang="hu-HU" sz="2000" dirty="0" err="1"/>
              <a:t>Autocorrection</a:t>
            </a:r>
            <a:endParaRPr lang="hu-HU" sz="2000" dirty="0"/>
          </a:p>
          <a:p>
            <a:pPr>
              <a:lnSpc>
                <a:spcPct val="110000"/>
              </a:lnSpc>
            </a:pPr>
            <a:r>
              <a:rPr lang="hu-HU" sz="2400" dirty="0"/>
              <a:t>Monte Carlo </a:t>
            </a:r>
            <a:r>
              <a:rPr lang="hu-HU" sz="2400" dirty="0" err="1"/>
              <a:t>simulation</a:t>
            </a:r>
            <a:endParaRPr lang="hu-HU" sz="2400" dirty="0"/>
          </a:p>
          <a:p>
            <a:pPr lvl="1">
              <a:lnSpc>
                <a:spcPct val="110000"/>
              </a:lnSpc>
            </a:pPr>
            <a:r>
              <a:rPr lang="el-GR" sz="2000" dirty="0"/>
              <a:t>π</a:t>
            </a:r>
            <a:r>
              <a:rPr lang="hu-HU" sz="2000" dirty="0"/>
              <a:t> </a:t>
            </a:r>
            <a:r>
              <a:rPr lang="hu-HU" sz="2000" dirty="0" err="1"/>
              <a:t>estimation</a:t>
            </a:r>
            <a:endParaRPr lang="hu-HU" sz="2000" dirty="0"/>
          </a:p>
          <a:p>
            <a:pPr lvl="1">
              <a:lnSpc>
                <a:spcPct val="110000"/>
              </a:lnSpc>
            </a:pPr>
            <a:r>
              <a:rPr lang="hu-HU" sz="2000" dirty="0"/>
              <a:t>Financial </a:t>
            </a:r>
            <a:r>
              <a:rPr lang="hu-HU" sz="2000" dirty="0" err="1"/>
              <a:t>Simulation</a:t>
            </a:r>
            <a:r>
              <a:rPr lang="hu-HU" sz="2000" dirty="0"/>
              <a:t> (</a:t>
            </a:r>
            <a:r>
              <a:rPr lang="hu-HU" sz="2000" i="1" dirty="0" err="1"/>
              <a:t>Option</a:t>
            </a:r>
            <a:r>
              <a:rPr lang="hu-HU" sz="2000" i="1" dirty="0"/>
              <a:t> </a:t>
            </a:r>
            <a:r>
              <a:rPr lang="hu-HU" sz="2000" i="1" dirty="0" err="1"/>
              <a:t>Pricing</a:t>
            </a:r>
            <a:r>
              <a:rPr lang="hu-HU" sz="2000" i="1" dirty="0"/>
              <a:t>, </a:t>
            </a:r>
            <a:r>
              <a:rPr lang="hu-HU" sz="2000" i="1" dirty="0" err="1"/>
              <a:t>VaR</a:t>
            </a:r>
            <a:r>
              <a:rPr lang="hu-HU" sz="2000" dirty="0"/>
              <a:t>)</a:t>
            </a:r>
            <a:endParaRPr lang="hu-HU" sz="2000" baseline="30000" dirty="0"/>
          </a:p>
        </p:txBody>
      </p:sp>
    </p:spTree>
    <p:extLst>
      <p:ext uri="{BB962C8B-B14F-4D97-AF65-F5344CB8AC3E}">
        <p14:creationId xmlns:p14="http://schemas.microsoft.com/office/powerpoint/2010/main" val="2634070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AB37B7-0576-B3D4-BA67-F9A0C7011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14. Monte Carlo (</a:t>
            </a:r>
            <a:r>
              <a:rPr lang="el-GR" dirty="0"/>
              <a:t>π</a:t>
            </a:r>
            <a:r>
              <a:rPr lang="hu-HU" dirty="0"/>
              <a:t> </a:t>
            </a:r>
            <a:r>
              <a:rPr lang="hu-HU" dirty="0" err="1"/>
              <a:t>estimation</a:t>
            </a:r>
            <a:r>
              <a:rPr lang="hu-HU" dirty="0"/>
              <a:t>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artalom helye 2">
                <a:extLst>
                  <a:ext uri="{FF2B5EF4-FFF2-40B4-BE49-F238E27FC236}">
                    <a16:creationId xmlns:a16="http://schemas.microsoft.com/office/drawing/2014/main" id="{AA74C4FA-9135-9761-2048-51BA62D5B6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ctr">
                <a:normAutofit fontScale="85000" lnSpcReduction="10000"/>
              </a:bodyPr>
              <a:lstStyle/>
              <a:p>
                <a:r>
                  <a:rPr lang="hu-HU" sz="2400" dirty="0"/>
                  <a:t>Uses a 2D </a:t>
                </a:r>
                <a:r>
                  <a:rPr lang="hu-HU" sz="2400" dirty="0" err="1"/>
                  <a:t>square</a:t>
                </a:r>
                <a:r>
                  <a:rPr lang="hu-HU" sz="2400" dirty="0"/>
                  <a:t> and </a:t>
                </a:r>
                <a:r>
                  <a:rPr lang="hu-HU" sz="2400" dirty="0" err="1"/>
                  <a:t>circle</a:t>
                </a:r>
                <a:endParaRPr lang="hu-HU" sz="2400" dirty="0"/>
              </a:p>
              <a:p>
                <a:r>
                  <a:rPr lang="hu-HU" sz="2400" dirty="0"/>
                  <a:t>The center of </a:t>
                </a:r>
                <a:r>
                  <a:rPr lang="hu-HU" sz="2400" dirty="0" err="1"/>
                  <a:t>both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shapes</a:t>
                </a:r>
                <a:r>
                  <a:rPr lang="hu-HU" sz="2400" dirty="0"/>
                  <a:t> is </a:t>
                </a:r>
                <a:r>
                  <a:rPr lang="hu-HU" sz="2400" dirty="0" err="1"/>
                  <a:t>the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origin</a:t>
                </a:r>
                <a:endParaRPr lang="hu-HU" sz="2400" dirty="0"/>
              </a:p>
              <a:p>
                <a:r>
                  <a:rPr lang="hu-HU" sz="2400" dirty="0" err="1"/>
                  <a:t>Properties</a:t>
                </a:r>
                <a:r>
                  <a:rPr lang="hu-HU" sz="2400" dirty="0"/>
                  <a:t> of </a:t>
                </a:r>
                <a:r>
                  <a:rPr lang="hu-HU" sz="2400" dirty="0" err="1"/>
                  <a:t>the</a:t>
                </a:r>
                <a:r>
                  <a:rPr lang="hu-HU" sz="2400" dirty="0"/>
                  <a:t> </a:t>
                </a:r>
                <a:r>
                  <a:rPr lang="hu-HU" sz="2400" dirty="0" err="1"/>
                  <a:t>shapes</a:t>
                </a:r>
                <a:r>
                  <a:rPr lang="hu-HU" sz="2400" dirty="0"/>
                  <a:t>:</a:t>
                </a:r>
              </a:p>
              <a:p>
                <a:pPr lvl="1"/>
                <a:r>
                  <a:rPr lang="hu-HU" sz="2000" dirty="0" err="1"/>
                  <a:t>Square</a:t>
                </a:r>
                <a:r>
                  <a:rPr lang="hu-HU" sz="2000" baseline="-25000" dirty="0" err="1"/>
                  <a:t>d</a:t>
                </a:r>
                <a:r>
                  <a:rPr lang="hu-HU" sz="2000" baseline="-25000" dirty="0"/>
                  <a:t>=2</a:t>
                </a:r>
                <a:r>
                  <a:rPr lang="hu-HU" sz="2000" dirty="0"/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hu-HU" sz="2000" b="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hu-HU" sz="20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hu-HU" sz="2000" b="0" i="1">
                        <a:latin typeface="Cambria Math" panose="02040503050406030204" pitchFamily="18" charset="0"/>
                      </a:rPr>
                      <m:t>=2 ∗2=4</m:t>
                    </m:r>
                  </m:oMath>
                </a14:m>
                <a:endParaRPr lang="hu-HU" sz="2000" dirty="0"/>
              </a:p>
              <a:p>
                <a:pPr lvl="1"/>
                <a:r>
                  <a:rPr lang="hu-HU" sz="2000" dirty="0" err="1"/>
                  <a:t>Circle</a:t>
                </a:r>
                <a:r>
                  <a:rPr lang="hu-HU" sz="2000" baseline="-25000" dirty="0" err="1"/>
                  <a:t>r</a:t>
                </a:r>
                <a:r>
                  <a:rPr lang="hu-HU" sz="2000" baseline="-25000" dirty="0"/>
                  <a:t>=1 </a:t>
                </a:r>
                <a:r>
                  <a:rPr lang="hu-HU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u-H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hu-HU" sz="2000" b="0" i="1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l-GR" sz="2000" b="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hu-HU" sz="2000" b="0" i="1">
                        <a:latin typeface="Cambria Math" panose="02040503050406030204" pitchFamily="18" charset="0"/>
                      </a:rPr>
                      <m:t> ∗ </m:t>
                    </m:r>
                    <m:sSup>
                      <m:sSupPr>
                        <m:ctrlPr>
                          <a:rPr lang="hu-HU" sz="20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hu-HU" sz="2000" b="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2000" i="1">
                        <a:latin typeface="Cambria Math" panose="02040503050406030204" pitchFamily="18" charset="0"/>
                      </a:rPr>
                      <m:t>π</m:t>
                    </m:r>
                    <m:r>
                      <a:rPr lang="hu-HU" sz="2000" b="0" i="1">
                        <a:latin typeface="Cambria Math" panose="02040503050406030204" pitchFamily="18" charset="0"/>
                      </a:rPr>
                      <m:t> ∗ </m:t>
                    </m:r>
                    <m:sSup>
                      <m:sSupPr>
                        <m:ctrlPr>
                          <a:rPr lang="hu-HU" sz="20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hu-HU" sz="20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hu-HU" sz="2000" b="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2000" i="1">
                        <a:latin typeface="Cambria Math" panose="02040503050406030204" pitchFamily="18" charset="0"/>
                      </a:rPr>
                      <m:t>π</m:t>
                    </m:r>
                  </m:oMath>
                </a14:m>
                <a:endParaRPr lang="hu-HU" sz="2000" dirty="0"/>
              </a:p>
              <a:p>
                <a:r>
                  <a:rPr lang="hu-HU" sz="2400" dirty="0" err="1"/>
                  <a:t>Operation</a:t>
                </a:r>
                <a:r>
                  <a:rPr lang="hu-HU" sz="2400" dirty="0"/>
                  <a:t>:</a:t>
                </a:r>
              </a:p>
              <a:p>
                <a:pPr lvl="1"/>
                <a:r>
                  <a:rPr lang="hu-HU" sz="2000" dirty="0" err="1"/>
                  <a:t>Generating</a:t>
                </a:r>
                <a:r>
                  <a:rPr lang="hu-HU" sz="2000" dirty="0"/>
                  <a:t> random </a:t>
                </a:r>
                <a:r>
                  <a:rPr lang="hu-HU" sz="2000" dirty="0" err="1"/>
                  <a:t>points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inside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square</a:t>
                </a:r>
                <a:endParaRPr lang="hu-HU" sz="2000" dirty="0"/>
              </a:p>
              <a:p>
                <a:pPr lvl="1"/>
                <a:r>
                  <a:rPr lang="hu-HU" sz="2000" dirty="0"/>
                  <a:t>The ration of </a:t>
                </a:r>
                <a:r>
                  <a:rPr lang="hu-HU" sz="2000" dirty="0" err="1"/>
                  <a:t>points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inside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circle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to</a:t>
                </a:r>
                <a:r>
                  <a:rPr lang="hu-HU" sz="2000" dirty="0"/>
                  <a:t> </a:t>
                </a:r>
                <a:r>
                  <a:rPr lang="hu-HU" sz="2000" dirty="0" err="1"/>
                  <a:t>points</a:t>
                </a:r>
                <a:r>
                  <a:rPr lang="hu-HU" sz="2000" dirty="0"/>
                  <a:t> </a:t>
                </a:r>
                <a:r>
                  <a:rPr lang="hu-HU" sz="2000" dirty="0" err="1"/>
                  <a:t>inside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the</a:t>
                </a:r>
                <a:r>
                  <a:rPr lang="hu-HU" sz="2000" dirty="0"/>
                  <a:t> </a:t>
                </a:r>
                <a:r>
                  <a:rPr lang="hu-HU" sz="2000" dirty="0" err="1"/>
                  <a:t>square</a:t>
                </a:r>
                <a:r>
                  <a:rPr lang="hu-HU" sz="2000" dirty="0"/>
                  <a:t>, </a:t>
                </a:r>
                <a:r>
                  <a:rPr lang="hu-HU" sz="2000" dirty="0" err="1"/>
                  <a:t>multiplied</a:t>
                </a:r>
                <a:r>
                  <a:rPr lang="hu-HU" sz="2000" dirty="0"/>
                  <a:t> </a:t>
                </a:r>
                <a:r>
                  <a:rPr lang="hu-HU" sz="2000" dirty="0" err="1"/>
                  <a:t>by</a:t>
                </a:r>
                <a:r>
                  <a:rPr lang="hu-HU" sz="2000" dirty="0"/>
                  <a:t> </a:t>
                </a:r>
                <a:r>
                  <a:rPr lang="hu-HU" sz="2000" dirty="0" err="1"/>
                  <a:t>four</a:t>
                </a:r>
                <a:r>
                  <a:rPr lang="hu-HU" sz="2000" dirty="0"/>
                  <a:t>, </a:t>
                </a:r>
                <a:r>
                  <a:rPr lang="hu-HU" sz="2000" dirty="0" err="1"/>
                  <a:t>will</a:t>
                </a:r>
                <a:r>
                  <a:rPr lang="hu-HU" sz="2000" dirty="0"/>
                  <a:t> </a:t>
                </a:r>
                <a:r>
                  <a:rPr lang="hu-HU" sz="2000" dirty="0" err="1"/>
                  <a:t>equal</a:t>
                </a:r>
                <a:r>
                  <a:rPr lang="hu-HU" sz="20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b="0" i="1" smtClean="0">
                        <a:latin typeface="Cambria Math" panose="02040503050406030204" pitchFamily="18" charset="0"/>
                      </a:rPr>
                      <m:t>π</m:t>
                    </m:r>
                  </m:oMath>
                </a14:m>
                <a:endParaRPr lang="hu-HU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hu-HU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hu-H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hu-HU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hu-HU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hu-HU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𝑃𝑜𝑖𝑛𝑡𝑠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𝑖𝑛𝑠𝑖𝑑𝑒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𝑡h𝑒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𝑐𝑖𝑟𝑐𝑙𝑒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𝑃𝑜𝑖𝑛𝑡𝑠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𝑖𝑛𝑠𝑖𝑑𝑒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𝑡h𝑒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2000" b="0" i="1" smtClean="0">
                                  <a:latin typeface="Cambria Math" panose="02040503050406030204" pitchFamily="18" charset="0"/>
                                </a:rPr>
                                <m:t>𝑠𝑞𝑢𝑎𝑟𝑒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hu-HU" sz="2000" dirty="0"/>
              </a:p>
            </p:txBody>
          </p:sp>
        </mc:Choice>
        <mc:Fallback>
          <p:sp>
            <p:nvSpPr>
              <p:cNvPr id="3" name="Tartalom helye 2">
                <a:extLst>
                  <a:ext uri="{FF2B5EF4-FFF2-40B4-BE49-F238E27FC236}">
                    <a16:creationId xmlns:a16="http://schemas.microsoft.com/office/drawing/2014/main" id="{AA74C4FA-9135-9761-2048-51BA62D5B6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71" t="-2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1443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617A804-9600-9D38-5323-CEEADE3E0C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Thank</a:t>
            </a:r>
            <a:r>
              <a:rPr lang="hu-HU" dirty="0"/>
              <a:t> </a:t>
            </a:r>
            <a:r>
              <a:rPr lang="hu-HU" dirty="0" err="1"/>
              <a:t>you</a:t>
            </a:r>
            <a:r>
              <a:rPr lang="hu-HU" dirty="0"/>
              <a:t>!</a:t>
            </a:r>
            <a:endParaRPr lang="en-US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3ED9056-4872-9407-3431-C887721651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587383"/>
      </p:ext>
    </p:extLst>
  </p:cSld>
  <p:clrMapOvr>
    <a:masterClrMapping/>
  </p:clrMapOvr>
</p:sld>
</file>

<file path=ppt/theme/theme1.xml><?xml version="1.0" encoding="utf-8"?>
<a:theme xmlns:a="http://schemas.openxmlformats.org/drawingml/2006/main" name="Körülvágás">
  <a:themeElements>
    <a:clrScheme name="Körülvágás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Körülvágás</Template>
  <TotalTime>241</TotalTime>
  <Words>369</Words>
  <Application>Microsoft Office PowerPoint</Application>
  <PresentationFormat>Szélesvásznú</PresentationFormat>
  <Paragraphs>59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1" baseType="lpstr">
      <vt:lpstr>Cambria Math</vt:lpstr>
      <vt:lpstr>Franklin Gothic Book</vt:lpstr>
      <vt:lpstr>Körülvágás</vt:lpstr>
      <vt:lpstr>Design Plans for Assignment 14</vt:lpstr>
      <vt:lpstr>14. Linear Congruential Generator</vt:lpstr>
      <vt:lpstr>14. XORshift Generator</vt:lpstr>
      <vt:lpstr>14. Mersenne Twister (opc)</vt:lpstr>
      <vt:lpstr>14. Chi-Square Test</vt:lpstr>
      <vt:lpstr>14. Bonus Points</vt:lpstr>
      <vt:lpstr>14. Monte Carlo (π estimation)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Cigányok</dc:title>
  <dc:creator>Gergő Márton</dc:creator>
  <cp:lastModifiedBy>Gergő Márton</cp:lastModifiedBy>
  <cp:revision>8</cp:revision>
  <dcterms:created xsi:type="dcterms:W3CDTF">2026-03-11T20:27:10Z</dcterms:created>
  <dcterms:modified xsi:type="dcterms:W3CDTF">2026-03-19T16:44:13Z</dcterms:modified>
</cp:coreProperties>
</file>